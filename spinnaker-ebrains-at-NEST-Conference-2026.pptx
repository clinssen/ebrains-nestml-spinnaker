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notesSlides/notesSlide1.xml" ContentType="application/vnd.openxmlformats-officedocument.presentationml.notes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.xml.rels" ContentType="application/vnd.openxmlformats-package.relationships+xml"/>
  <Override PartName="/ppt/slideLayouts/slideLayout1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4.png" ContentType="image/png"/>
  <Override PartName="/ppt/media/image3.wmf" ContentType="image/x-wmf"/>
  <Override PartName="/ppt/media/image5.png" ContentType="image/png"/>
  <Override PartName="/ppt/media/image6.jpeg" ContentType="image/jpeg"/>
  <Override PartName="/ppt/media/image11.jpeg" ContentType="image/jpeg"/>
  <Override PartName="/ppt/media/image13.png" ContentType="image/png"/>
  <Override PartName="/ppt/media/image8.png" ContentType="image/png"/>
  <Override PartName="/ppt/media/image1.wmf" ContentType="image/x-wmf"/>
  <Override PartName="/ppt/media/image7.png" ContentType="image/png"/>
  <Override PartName="/ppt/media/image12.png" ContentType="image/png"/>
  <Override PartName="/ppt/media/image4.wmf" ContentType="image/x-wmf"/>
  <Override PartName="/ppt/media/image9.png" ContentType="image/png"/>
  <Override PartName="/ppt/media/image10.png" ContentType="image/png"/>
  <Override PartName="/ppt/media/image2.wmf" ContentType="image/x-wmf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4A90797-9A26-4CF0-8959-C1BE8200D53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" sz="2000" spc="-1" strike="noStrike">
                <a:solidFill>
                  <a:srgbClr val="000000"/>
                </a:solidFill>
                <a:latin typeface="Arial"/>
              </a:rPr>
              <a:t>XML is a classic political compromise: it balances the needs of man and machine by being equally unreadable to both.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pc="-1" strike="noStrike">
                <a:solidFill>
                  <a:srgbClr val="000000"/>
                </a:solidFill>
                <a:latin typeface="Arial"/>
              </a:rPr>
              <a:t>- Matthew Might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Shape 7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440AD6D1-5546-450B-80CA-AD0466595F90}" type="slidenum">
              <a:rPr b="0" lang="en" sz="1200" spc="-1" strike="noStrike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6CB39F78-ECA3-4A57-BB1C-61CE2332A156}" type="slidenum">
              <a:rPr b="0" lang="en" sz="1200" spc="-1" strike="noStrike">
                <a:solidFill>
                  <a:srgbClr val="000000"/>
                </a:solidFill>
                <a:latin typeface="+mn-lt"/>
                <a:ea typeface="+mn-ea"/>
              </a:rPr>
              <a:t>2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pc="-1" strike="noStrike">
                <a:solidFill>
                  <a:srgbClr val="000000"/>
                </a:solidFill>
                <a:latin typeface="Arial"/>
              </a:rPr>
              <a:t>- browser: Chrome or Firefox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Shape 9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E501C3E3-69D6-490E-8964-A5FEB402F16A}" type="slidenum">
              <a:rPr b="0" lang="en" sz="1200" spc="-1" strike="noStrike">
                <a:solidFill>
                  <a:srgbClr val="000000"/>
                </a:solidFill>
                <a:latin typeface="+mn-lt"/>
                <a:ea typeface="+mn-ea"/>
              </a:rPr>
              <a:t>3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pc="-1" strike="noStrike">
                <a:solidFill>
                  <a:srgbClr val="000000"/>
                </a:solidFill>
                <a:latin typeface="Arial"/>
              </a:rPr>
              <a:t>- browser: Chrome or Firefox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Shape 12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5C12778E-40C2-4486-9503-D8EBA4757187}" type="slidenum">
              <a:rPr b="0" lang="en" sz="1200" spc="-1" strike="noStrike">
                <a:solidFill>
                  <a:srgbClr val="000000"/>
                </a:solidFill>
                <a:latin typeface="+mn-lt"/>
                <a:ea typeface="+mn-ea"/>
              </a:rPr>
              <a:t>4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92572497-F8EA-42C2-BED8-2F6DEF3BCAB0}" type="slidenum">
              <a:rPr b="0" lang="en" sz="1200" spc="-1" strike="noStrike">
                <a:solidFill>
                  <a:srgbClr val="000000"/>
                </a:solidFill>
                <a:latin typeface="+mn-lt"/>
                <a:ea typeface="+mn-ea"/>
              </a:rPr>
              <a:t>5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D5AE8444-6AFF-48FF-B6E5-9AB6F0A3D7FD}" type="slidenum">
              <a:rPr b="0" lang="en" sz="1200" spc="-1" strike="noStrike">
                <a:solidFill>
                  <a:srgbClr val="000000"/>
                </a:solidFill>
                <a:latin typeface="+mn-lt"/>
                <a:ea typeface="+mn-ea"/>
              </a:rPr>
              <a:t>6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wmf"/><Relationship Id="rId3" Type="http://schemas.openxmlformats.org/officeDocument/2006/relationships/image" Target="../media/image1.wmf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wmf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fik 12" descr=""/>
          <p:cNvPicPr/>
          <p:nvPr/>
        </p:nvPicPr>
        <p:blipFill>
          <a:blip r:embed="rId2"/>
          <a:stretch/>
        </p:blipFill>
        <p:spPr>
          <a:xfrm>
            <a:off x="9938520" y="6005520"/>
            <a:ext cx="1881360" cy="548280"/>
          </a:xfrm>
          <a:prstGeom prst="rect">
            <a:avLst/>
          </a:prstGeom>
          <a:ln w="0">
            <a:noFill/>
          </a:ln>
        </p:spPr>
      </p:pic>
      <p:sp>
        <p:nvSpPr>
          <p:cNvPr id="1" name="CustomShape 1" hidden="1"/>
          <p:cNvSpPr/>
          <p:nvPr/>
        </p:nvSpPr>
        <p:spPr>
          <a:xfrm>
            <a:off x="2095560" y="5572080"/>
            <a:ext cx="2499480" cy="35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0" y="3429000"/>
            <a:ext cx="12191400" cy="1979640"/>
          </a:xfrm>
          <a:prstGeom prst="rect">
            <a:avLst/>
          </a:prstGeom>
          <a:solidFill>
            <a:srgbClr val="023d6b"/>
          </a:solidFill>
          <a:ln>
            <a:solidFill>
              <a:srgbClr val="002d4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Grafik 8" descr=""/>
          <p:cNvPicPr/>
          <p:nvPr/>
        </p:nvPicPr>
        <p:blipFill>
          <a:blip r:embed="rId3"/>
          <a:stretch/>
        </p:blipFill>
        <p:spPr>
          <a:xfrm>
            <a:off x="9938520" y="6005520"/>
            <a:ext cx="1881360" cy="548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fik 12" descr=""/>
          <p:cNvPicPr/>
          <p:nvPr/>
        </p:nvPicPr>
        <p:blipFill>
          <a:blip r:embed="rId2"/>
          <a:stretch/>
        </p:blipFill>
        <p:spPr>
          <a:xfrm>
            <a:off x="9938520" y="6005520"/>
            <a:ext cx="1881360" cy="548280"/>
          </a:xfrm>
          <a:prstGeom prst="rect">
            <a:avLst/>
          </a:prstGeom>
          <a:ln w="0">
            <a:noFill/>
          </a:ln>
        </p:spPr>
      </p:pic>
      <p:sp>
        <p:nvSpPr>
          <p:cNvPr id="43" name="CustomShape 1"/>
          <p:cNvSpPr/>
          <p:nvPr/>
        </p:nvSpPr>
        <p:spPr>
          <a:xfrm>
            <a:off x="2095560" y="5572080"/>
            <a:ext cx="2499480" cy="35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6"/>
          <p:cNvSpPr/>
          <p:nvPr/>
        </p:nvSpPr>
        <p:spPr>
          <a:xfrm>
            <a:off x="237960" y="6286680"/>
            <a:ext cx="2499480" cy="35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wmf"/><Relationship Id="rId2" Type="http://schemas.openxmlformats.org/officeDocument/2006/relationships/image" Target="../media/image3.wmf"/><Relationship Id="rId3" Type="http://schemas.openxmlformats.org/officeDocument/2006/relationships/image" Target="../media/image4.wmf"/><Relationship Id="rId4" Type="http://schemas.openxmlformats.org/officeDocument/2006/relationships/image" Target="../media/image5.png"/><Relationship Id="rId5" Type="http://schemas.openxmlformats.org/officeDocument/2006/relationships/image" Target="../media/image6.jpe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ebrains.eu/sign-up" TargetMode="External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nestml.readthedocs.io/" TargetMode="External"/><Relationship Id="rId2" Type="http://schemas.openxmlformats.org/officeDocument/2006/relationships/hyperlink" Target="https://spinnakermanchester.github.io/" TargetMode="Externa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Shape 4"/>
          <p:cNvSpPr/>
          <p:nvPr/>
        </p:nvSpPr>
        <p:spPr>
          <a:xfrm>
            <a:off x="731880" y="3657600"/>
            <a:ext cx="1107864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4000"/>
              </a:lnSpc>
            </a:pPr>
            <a:r>
              <a:rPr b="0" lang="en-US" sz="2400" spc="494" strike="noStrike" cap="all">
                <a:solidFill>
                  <a:srgbClr val="ffffff"/>
                </a:solidFill>
                <a:latin typeface="Gotham"/>
                <a:ea typeface="DejaVu Sans"/>
              </a:rPr>
              <a:t>Modeling and simulating neuron models from NESTML on neuromorphic hardware</a:t>
            </a:r>
            <a:endParaRPr b="0" lang="en-US" sz="2400" spc="-1" strike="noStrike">
              <a:solidFill>
                <a:srgbClr val="000000"/>
              </a:solidFill>
              <a:latin typeface="Gotham"/>
            </a:endParaRPr>
          </a:p>
        </p:txBody>
      </p:sp>
      <p:sp>
        <p:nvSpPr>
          <p:cNvPr id="90" name="TextShape 6"/>
          <p:cNvSpPr/>
          <p:nvPr/>
        </p:nvSpPr>
        <p:spPr>
          <a:xfrm>
            <a:off x="9897120" y="6637680"/>
            <a:ext cx="1984680" cy="766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endParaRPr b="0" lang="en-US" sz="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CustomShape 1"/>
          <p:cNvSpPr/>
          <p:nvPr/>
        </p:nvSpPr>
        <p:spPr>
          <a:xfrm>
            <a:off x="422280" y="6538680"/>
            <a:ext cx="983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" sz="600" spc="-1" strike="noStrike">
                <a:solidFill>
                  <a:srgbClr val="000000"/>
                </a:solidFill>
                <a:latin typeface="Trebuchet MS"/>
                <a:ea typeface="DejaVu Sans"/>
              </a:rPr>
              <a:t>Co-funded by </a:t>
            </a:r>
            <a:br>
              <a:rPr sz="1800"/>
            </a:br>
            <a:r>
              <a:rPr b="0" lang="en" sz="600" spc="-1" strike="noStrike">
                <a:solidFill>
                  <a:srgbClr val="000000"/>
                </a:solidFill>
                <a:latin typeface="Trebuchet MS"/>
                <a:ea typeface="DejaVu Sans"/>
              </a:rPr>
              <a:t>the European Union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Picture 1" descr=""/>
          <p:cNvPicPr/>
          <p:nvPr/>
        </p:nvPicPr>
        <p:blipFill>
          <a:blip r:embed="rId2"/>
          <a:stretch/>
        </p:blipFill>
        <p:spPr>
          <a:xfrm>
            <a:off x="5238720" y="6429240"/>
            <a:ext cx="1688400" cy="3240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2" descr=""/>
          <p:cNvPicPr/>
          <p:nvPr/>
        </p:nvPicPr>
        <p:blipFill>
          <a:blip r:embed="rId3"/>
          <a:stretch/>
        </p:blipFill>
        <p:spPr>
          <a:xfrm>
            <a:off x="1390680" y="6451920"/>
            <a:ext cx="452160" cy="301320"/>
          </a:xfrm>
          <a:prstGeom prst="rect">
            <a:avLst/>
          </a:prstGeom>
          <a:ln w="0">
            <a:noFill/>
          </a:ln>
        </p:spPr>
      </p:pic>
      <p:pic>
        <p:nvPicPr>
          <p:cNvPr id="94" name="Picture 4" descr=""/>
          <p:cNvPicPr/>
          <p:nvPr/>
        </p:nvPicPr>
        <p:blipFill>
          <a:blip r:embed="rId4"/>
          <a:stretch/>
        </p:blipFill>
        <p:spPr>
          <a:xfrm>
            <a:off x="317520" y="6445440"/>
            <a:ext cx="310320" cy="310320"/>
          </a:xfrm>
          <a:prstGeom prst="rect">
            <a:avLst/>
          </a:prstGeom>
          <a:ln w="0">
            <a:noFill/>
          </a:ln>
        </p:spPr>
      </p:pic>
      <p:sp>
        <p:nvSpPr>
          <p:cNvPr id="95" name="PlaceHolder 5"/>
          <p:cNvSpPr txBox="1"/>
          <p:nvPr/>
        </p:nvSpPr>
        <p:spPr>
          <a:xfrm>
            <a:off x="731880" y="4858200"/>
            <a:ext cx="1100088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7" strike="noStrike">
                <a:solidFill>
                  <a:srgbClr val="ffffff"/>
                </a:solidFill>
                <a:latin typeface="Gotham Book"/>
              </a:rPr>
              <a:t>Charl Linssen &lt;c.linssen@fz-juelich.de&gt;    |   NEST Conference 2026   |   ​June 16th, 2026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5"/>
          <a:srcRect l="13124" t="0" r="0" b="25795"/>
          <a:stretch/>
        </p:blipFill>
        <p:spPr>
          <a:xfrm>
            <a:off x="5594760" y="-1659600"/>
            <a:ext cx="10590840" cy="5087880"/>
          </a:xfrm>
          <a:prstGeom prst="rect">
            <a:avLst/>
          </a:prstGeom>
          <a:ln w="0">
            <a:noFill/>
          </a:ln>
        </p:spPr>
      </p:pic>
      <p:pic>
        <p:nvPicPr>
          <p:cNvPr id="97" name="" descr=""/>
          <p:cNvPicPr/>
          <p:nvPr/>
        </p:nvPicPr>
        <p:blipFill>
          <a:blip r:embed="rId6"/>
          <a:srcRect l="40847" t="2137" r="19951" b="44370"/>
          <a:stretch/>
        </p:blipFill>
        <p:spPr>
          <a:xfrm>
            <a:off x="-573480" y="-1829160"/>
            <a:ext cx="6288480" cy="5257440"/>
          </a:xfrm>
          <a:prstGeom prst="rect">
            <a:avLst/>
          </a:prstGeom>
          <a:ln w="0">
            <a:noFill/>
          </a:ln>
        </p:spPr>
      </p:pic>
    </p:spTree>
  </p:cSld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Shape 1"/>
          <p:cNvSpPr/>
          <p:nvPr/>
        </p:nvSpPr>
        <p:spPr>
          <a:xfrm>
            <a:off x="371520" y="324000"/>
            <a:ext cx="11448360" cy="11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4000"/>
              </a:lnSpc>
            </a:pPr>
            <a:r>
              <a:rPr b="1" lang="en-US" sz="3200" spc="197" strike="noStrike">
                <a:solidFill>
                  <a:srgbClr val="023d6b"/>
                </a:solidFill>
                <a:latin typeface="Arial"/>
                <a:ea typeface="DejaVu Sans"/>
              </a:rPr>
              <a:t>Welcome!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Shape 2"/>
          <p:cNvSpPr/>
          <p:nvPr/>
        </p:nvSpPr>
        <p:spPr>
          <a:xfrm>
            <a:off x="1371600" y="1498680"/>
            <a:ext cx="10286640" cy="61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T+00:00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4070a0"/>
                </a:solidFill>
                <a:latin typeface="Open Sans"/>
                <a:ea typeface="Open Sans"/>
              </a:rPr>
              <a:t>Tutorial overview and accounts setup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T+00:10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4070a0"/>
                </a:solidFill>
                <a:latin typeface="Open Sans"/>
                <a:ea typeface="Open Sans"/>
              </a:rPr>
              <a:t>Introduction to NESTML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T+00:20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4070a0"/>
                </a:solidFill>
                <a:latin typeface="Open Sans"/>
                <a:ea typeface="Open Sans"/>
              </a:rPr>
              <a:t>Hands-on part 1: Generating code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T+00:30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4070a0"/>
                </a:solidFill>
                <a:latin typeface="Open Sans"/>
                <a:ea typeface="Open Sans"/>
              </a:rPr>
              <a:t>Hands-on part 2: Single-neuron characterisation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T+00:40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1800" spc="-1" strike="noStrike">
                <a:solidFill>
                  <a:srgbClr val="4070a0"/>
                </a:solidFill>
                <a:latin typeface="Open Sans"/>
                <a:ea typeface="Open Sans"/>
              </a:rPr>
              <a:t>Hands-on part 3: Balanced network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3"/>
          <p:cNvSpPr/>
          <p:nvPr/>
        </p:nvSpPr>
        <p:spPr>
          <a:xfrm>
            <a:off x="8635680" y="7718400"/>
            <a:ext cx="142200" cy="785160"/>
          </a:xfrm>
          <a:prstGeom prst="rect">
            <a:avLst/>
          </a:prstGeom>
          <a:solidFill>
            <a:srgbClr val="407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4"/>
          <p:cNvSpPr/>
          <p:nvPr/>
        </p:nvSpPr>
        <p:spPr>
          <a:xfrm>
            <a:off x="5983920" y="7992720"/>
            <a:ext cx="142200" cy="78516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CustomShape 5"/>
          <p:cNvSpPr/>
          <p:nvPr/>
        </p:nvSpPr>
        <p:spPr>
          <a:xfrm>
            <a:off x="3058200" y="1575720"/>
            <a:ext cx="142200" cy="675360"/>
          </a:xfrm>
          <a:prstGeom prst="rect">
            <a:avLst/>
          </a:prstGeom>
          <a:solidFill>
            <a:srgbClr val="407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CustomShape 6"/>
          <p:cNvSpPr/>
          <p:nvPr/>
        </p:nvSpPr>
        <p:spPr>
          <a:xfrm>
            <a:off x="3046320" y="2514600"/>
            <a:ext cx="154080" cy="1143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CustomShape 7"/>
          <p:cNvSpPr/>
          <p:nvPr/>
        </p:nvSpPr>
        <p:spPr>
          <a:xfrm>
            <a:off x="7446960" y="7830000"/>
            <a:ext cx="142200" cy="8564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8"/>
          <p:cNvSpPr/>
          <p:nvPr/>
        </p:nvSpPr>
        <p:spPr>
          <a:xfrm>
            <a:off x="505800" y="1371600"/>
            <a:ext cx="5181120" cy="47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Open Sans"/>
                <a:ea typeface="Open Sans"/>
              </a:rPr>
              <a:t>SpiNNaker is a neuromorphic computing system designed to simulate large-scale spiking neural networks in real-time.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Open Sans"/>
                <a:ea typeface="Open Sans"/>
              </a:rPr>
              <a:t>It features a massively parallel architecture comprising up to a million 32-bit ARM9 cores, interconnected through a toroidally wired, packet-based communication network, achieving high-speed, low-latency interprocessor communication.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Shape 5"/>
          <p:cNvSpPr/>
          <p:nvPr/>
        </p:nvSpPr>
        <p:spPr>
          <a:xfrm>
            <a:off x="371520" y="324000"/>
            <a:ext cx="11448360" cy="11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4000"/>
              </a:lnSpc>
            </a:pPr>
            <a:r>
              <a:rPr b="1" lang="en-US" sz="3200" spc="197" strike="noStrike">
                <a:solidFill>
                  <a:srgbClr val="023d6b"/>
                </a:solidFill>
                <a:latin typeface="Arial"/>
                <a:ea typeface="DejaVu Sans"/>
              </a:rPr>
              <a:t>Introduction to SpiNNaker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7086600" y="158040"/>
            <a:ext cx="5029200" cy="3202920"/>
          </a:xfrm>
          <a:prstGeom prst="rect">
            <a:avLst/>
          </a:prstGeom>
          <a:ln w="0">
            <a:noFill/>
          </a:ln>
        </p:spPr>
      </p:pic>
      <p:pic>
        <p:nvPicPr>
          <p:cNvPr id="108" name="" descr=""/>
          <p:cNvPicPr/>
          <p:nvPr/>
        </p:nvPicPr>
        <p:blipFill>
          <a:blip r:embed="rId2"/>
          <a:stretch/>
        </p:blipFill>
        <p:spPr>
          <a:xfrm>
            <a:off x="5866920" y="2743560"/>
            <a:ext cx="3091320" cy="2285640"/>
          </a:xfrm>
          <a:prstGeom prst="rect">
            <a:avLst/>
          </a:prstGeom>
          <a:ln w="0">
            <a:noFill/>
          </a:ln>
        </p:spPr>
      </p:pic>
      <p:pic>
        <p:nvPicPr>
          <p:cNvPr id="109" name="" descr=""/>
          <p:cNvPicPr/>
          <p:nvPr/>
        </p:nvPicPr>
        <p:blipFill>
          <a:blip r:embed="rId3"/>
          <a:stretch/>
        </p:blipFill>
        <p:spPr>
          <a:xfrm>
            <a:off x="9598680" y="3886200"/>
            <a:ext cx="1831320" cy="1650240"/>
          </a:xfrm>
          <a:prstGeom prst="rect">
            <a:avLst/>
          </a:prstGeom>
          <a:ln w="0">
            <a:noFill/>
          </a:ln>
        </p:spPr>
      </p:pic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Shape 10"/>
          <p:cNvSpPr/>
          <p:nvPr/>
        </p:nvSpPr>
        <p:spPr>
          <a:xfrm>
            <a:off x="685800" y="1371600"/>
            <a:ext cx="5181120" cy="47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Open Sans"/>
                <a:ea typeface="Open Sans"/>
              </a:rPr>
              <a:t>EBRAINS is an integrated digital brain simulation platform and provides cloud computing services for free.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Open Sans"/>
                <a:ea typeface="Open Sans"/>
              </a:rPr>
              <a:t>To run the software used in this tutorial on EBRAINS, please create an account at: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5983b0"/>
                </a:solidFill>
                <a:latin typeface="Open Sans"/>
                <a:ea typeface="Open Sans"/>
                <a:hlinkClick r:id="rId1"/>
              </a:rPr>
              <a:t>https://ebrains.eu/sign-up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CustomShape 2"/>
          <p:cNvSpPr/>
          <p:nvPr/>
        </p:nvSpPr>
        <p:spPr>
          <a:xfrm>
            <a:off x="7895520" y="4568040"/>
            <a:ext cx="3276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" sz="2000" spc="-1" strike="noStrike">
                <a:solidFill>
                  <a:srgbClr val="000000"/>
                </a:solidFill>
                <a:latin typeface="Open Sans"/>
                <a:ea typeface="Open Sans"/>
              </a:rPr>
              <a:t>Running on the cloud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Picture 5" descr=""/>
          <p:cNvPicPr/>
          <p:nvPr/>
        </p:nvPicPr>
        <p:blipFill>
          <a:blip r:embed="rId2"/>
          <a:stretch/>
        </p:blipFill>
        <p:spPr>
          <a:xfrm>
            <a:off x="6766560" y="1084680"/>
            <a:ext cx="4876200" cy="3276000"/>
          </a:xfrm>
          <a:prstGeom prst="rect">
            <a:avLst/>
          </a:prstGeom>
          <a:ln w="0">
            <a:noFill/>
          </a:ln>
        </p:spPr>
      </p:pic>
      <p:sp>
        <p:nvSpPr>
          <p:cNvPr id="113" name="TextShape 11"/>
          <p:cNvSpPr/>
          <p:nvPr/>
        </p:nvSpPr>
        <p:spPr>
          <a:xfrm>
            <a:off x="371520" y="324000"/>
            <a:ext cx="11448360" cy="11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4000"/>
              </a:lnSpc>
            </a:pPr>
            <a:r>
              <a:rPr b="1" lang="en-US" sz="3200" spc="197" strike="noStrike">
                <a:solidFill>
                  <a:srgbClr val="023d6b"/>
                </a:solidFill>
                <a:latin typeface="Arial"/>
                <a:ea typeface="DejaVu Sans"/>
              </a:rPr>
              <a:t>Running on EBRAINS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Shape 1"/>
          <p:cNvSpPr/>
          <p:nvPr/>
        </p:nvSpPr>
        <p:spPr>
          <a:xfrm>
            <a:off x="371520" y="324000"/>
            <a:ext cx="11448360" cy="11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4000"/>
              </a:lnSpc>
            </a:pPr>
            <a:r>
              <a:rPr b="1" lang="en-US" sz="3200" spc="197" strike="noStrike">
                <a:solidFill>
                  <a:srgbClr val="023d6b"/>
                </a:solidFill>
                <a:latin typeface="Arial"/>
                <a:ea typeface="DejaVu Sans"/>
              </a:rPr>
              <a:t>Where to find materials?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Shape 2"/>
          <p:cNvSpPr/>
          <p:nvPr/>
        </p:nvSpPr>
        <p:spPr>
          <a:xfrm>
            <a:off x="309600" y="1252080"/>
            <a:ext cx="9291600" cy="50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All contents of the tutorial (Jupyter notebooks) can be found on: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2000" spc="-1" strike="noStrike">
                <a:solidFill>
                  <a:srgbClr val="1395fb"/>
                </a:solidFill>
                <a:latin typeface="Open Sans"/>
                <a:ea typeface="Open Sans"/>
              </a:rPr>
              <a:t>       </a:t>
            </a:r>
            <a:r>
              <a:rPr b="0" lang="en-US" sz="2000" spc="-1" strike="noStrike" u="sng">
                <a:solidFill>
                  <a:srgbClr val="000000"/>
                </a:solidFill>
                <a:uFillTx/>
                <a:latin typeface="Open Sans"/>
                <a:ea typeface="Open Sans"/>
              </a:rPr>
              <a:t>https://github.com/clinssen/ebrains-nestml-spinnaker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You can load these files onto your Jupyter instance by launching 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Open Sans"/>
                <a:ea typeface="Open Sans"/>
              </a:rPr>
              <a:t>a new terminal: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Consolas"/>
                <a:ea typeface="Open Sans"/>
              </a:rPr>
              <a:t>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Open Sans"/>
                <a:ea typeface="Open Sans"/>
              </a:rPr>
              <a:t>And then typing the command: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1800" spc="-1" strike="noStrike">
                <a:solidFill>
                  <a:srgbClr val="111111"/>
                </a:solidFill>
                <a:latin typeface="Consolas"/>
                <a:ea typeface="Open Sans"/>
              </a:rPr>
              <a:t>  </a:t>
            </a:r>
            <a:r>
              <a:rPr b="0" lang="en-US" sz="1800" spc="-1" strike="noStrike">
                <a:solidFill>
                  <a:srgbClr val="111111"/>
                </a:solidFill>
                <a:latin typeface="Consolas"/>
                <a:ea typeface="Open Sans"/>
              </a:rPr>
              <a:t>git clone https://github.com/clinssen/ebrains-nestml-spinnaker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Picture 3" descr="download.png"/>
          <p:cNvPicPr/>
          <p:nvPr/>
        </p:nvPicPr>
        <p:blipFill>
          <a:blip r:embed="rId1"/>
          <a:stretch/>
        </p:blipFill>
        <p:spPr>
          <a:xfrm>
            <a:off x="8534520" y="1143000"/>
            <a:ext cx="2857320" cy="1599840"/>
          </a:xfrm>
          <a:prstGeom prst="rect">
            <a:avLst/>
          </a:prstGeom>
          <a:ln w="0">
            <a:noFill/>
          </a:ln>
        </p:spPr>
      </p:pic>
      <p:pic>
        <p:nvPicPr>
          <p:cNvPr id="117" name="" descr=""/>
          <p:cNvPicPr/>
          <p:nvPr/>
        </p:nvPicPr>
        <p:blipFill>
          <a:blip r:embed="rId2"/>
          <a:stretch/>
        </p:blipFill>
        <p:spPr>
          <a:xfrm>
            <a:off x="1405080" y="3416400"/>
            <a:ext cx="2974320" cy="1264680"/>
          </a:xfrm>
          <a:prstGeom prst="rect">
            <a:avLst/>
          </a:prstGeom>
          <a:ln w="0">
            <a:noFill/>
          </a:ln>
        </p:spPr>
      </p:pic>
      <p:pic>
        <p:nvPicPr>
          <p:cNvPr id="118" name="" descr=""/>
          <p:cNvPicPr/>
          <p:nvPr/>
        </p:nvPicPr>
        <p:blipFill>
          <a:blip r:embed="rId3"/>
          <a:stretch/>
        </p:blipFill>
        <p:spPr>
          <a:xfrm>
            <a:off x="5522400" y="3201120"/>
            <a:ext cx="1126440" cy="158688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/>
          <p:nvPr/>
        </p:nvSpPr>
        <p:spPr>
          <a:xfrm>
            <a:off x="1525320" y="3665160"/>
            <a:ext cx="751320" cy="792000"/>
          </a:xfrm>
          <a:prstGeom prst="ellipse">
            <a:avLst/>
          </a:prstGeom>
          <a:noFill/>
          <a:ln w="73080">
            <a:solidFill>
              <a:srgbClr val="ff0000"/>
            </a:solidFill>
            <a:round/>
          </a:ln>
          <a:effectLst>
            <a:outerShdw dist="25964" dir="2700000" blurRad="38160" rotWithShape="0">
              <a:srgbClr val="808080">
                <a:alpha val="6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26360" rIns="126360" tIns="81360" bIns="81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5522400" y="3645000"/>
            <a:ext cx="1143000" cy="1143000"/>
          </a:xfrm>
          <a:prstGeom prst="ellipse">
            <a:avLst/>
          </a:prstGeom>
          <a:noFill/>
          <a:ln w="73080">
            <a:solidFill>
              <a:srgbClr val="ff0000"/>
            </a:solidFill>
            <a:round/>
          </a:ln>
          <a:effectLst>
            <a:outerShdw dist="25964" dir="2700000" blurRad="38160" rotWithShape="0">
              <a:srgbClr val="808080">
                <a:alpha val="6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26360" rIns="126360" tIns="81360" bIns="81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Shape 1"/>
          <p:cNvSpPr/>
          <p:nvPr/>
        </p:nvSpPr>
        <p:spPr>
          <a:xfrm>
            <a:off x="371520" y="324000"/>
            <a:ext cx="11448360" cy="11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4000"/>
              </a:lnSpc>
            </a:pPr>
            <a:r>
              <a:rPr b="1" lang="en-US" sz="3200" spc="197" strike="noStrike">
                <a:solidFill>
                  <a:srgbClr val="023d6b"/>
                </a:solidFill>
                <a:latin typeface="Arial"/>
                <a:ea typeface="DejaVu Sans"/>
              </a:rPr>
              <a:t>Further reading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Shape 2"/>
          <p:cNvSpPr/>
          <p:nvPr/>
        </p:nvSpPr>
        <p:spPr>
          <a:xfrm>
            <a:off x="309600" y="1214280"/>
            <a:ext cx="9286200" cy="50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2000" spc="-1" strike="noStrike">
                <a:solidFill>
                  <a:srgbClr val="000000"/>
                </a:solidFill>
                <a:latin typeface="Open Sans"/>
                <a:ea typeface="Open Sans"/>
              </a:rPr>
              <a:t>NESTML: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20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2000" spc="-1" strike="noStrike" u="sng">
                <a:solidFill>
                  <a:srgbClr val="000000"/>
                </a:solidFill>
                <a:uFillTx/>
                <a:latin typeface="Open Sans"/>
                <a:ea typeface="Open Sans"/>
                <a:hlinkClick r:id="rId1"/>
              </a:rPr>
              <a:t>https://nestml.readthedocs.io/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2000" spc="-1" strike="noStrike">
                <a:solidFill>
                  <a:srgbClr val="000000"/>
                </a:solidFill>
                <a:latin typeface="Open Sans"/>
                <a:ea typeface="Open Sans"/>
              </a:rPr>
              <a:t>SpiNNaker: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en-US" sz="2000" spc="-1" strike="noStrike">
                <a:solidFill>
                  <a:srgbClr val="000000"/>
                </a:solidFill>
                <a:latin typeface="Open Sans"/>
                <a:ea typeface="Open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Open Sans"/>
                <a:ea typeface="Open Sans"/>
                <a:hlinkClick r:id="rId2"/>
              </a:rPr>
              <a:t>https://spinnakermanchester.github.io/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81080">
              <a:lnSpc>
                <a:spcPct val="114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6d268e"/>
      </a:dk2>
      <a:lt2>
        <a:srgbClr val="ebebeb"/>
      </a:lt2>
      <a:accent1>
        <a:srgbClr val="023d6b"/>
      </a:accent1>
      <a:accent2>
        <a:srgbClr val="adbde3"/>
      </a:accent2>
      <a:accent3>
        <a:srgbClr val="30a93b"/>
      </a:accent3>
      <a:accent4>
        <a:srgbClr val="ffe900"/>
      </a:accent4>
      <a:accent5>
        <a:srgbClr val="ff8c0c"/>
      </a:accent5>
      <a:accent6>
        <a:srgbClr val="df0f44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6d268e"/>
      </a:dk2>
      <a:lt2>
        <a:srgbClr val="ebebeb"/>
      </a:lt2>
      <a:accent1>
        <a:srgbClr val="023d6b"/>
      </a:accent1>
      <a:accent2>
        <a:srgbClr val="adbde3"/>
      </a:accent2>
      <a:accent3>
        <a:srgbClr val="30a93b"/>
      </a:accent3>
      <a:accent4>
        <a:srgbClr val="ffe900"/>
      </a:accent4>
      <a:accent5>
        <a:srgbClr val="ff8c0c"/>
      </a:accent5>
      <a:accent6>
        <a:srgbClr val="df0f44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d268e"/>
      </a:dk2>
      <a:lt2>
        <a:srgbClr val="ebebeb"/>
      </a:lt2>
      <a:accent1>
        <a:srgbClr val="023d6b"/>
      </a:accent1>
      <a:accent2>
        <a:srgbClr val="adbde3"/>
      </a:accent2>
      <a:accent3>
        <a:srgbClr val="30a93b"/>
      </a:accent3>
      <a:accent4>
        <a:srgbClr val="ffe900"/>
      </a:accent4>
      <a:accent5>
        <a:srgbClr val="ff8c0c"/>
      </a:accent5>
      <a:accent6>
        <a:srgbClr val="df0f44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33559</TotalTime>
  <Application>LibreOffice/7.5.9.2$Linux_X86_64 LibreOffice_project/50$Build-2</Application>
  <AppVersion>15.0000</AppVersion>
  <Words>257</Words>
  <Paragraphs>66</Paragraphs>
  <Company>Jülich Forschungszentrum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2017-11-11T19:42:13Z</dcterms:created>
  <dc:creator>Jülich Forschungszentrum</dc:creator>
  <dc:description/>
  <dc:language>en</dc:language>
  <cp:lastModifiedBy>Charl</cp:lastModifiedBy>
  <dcterms:modified xsi:type="dcterms:W3CDTF">2026-06-11T20:18:33Z</dcterms:modified>
  <cp:revision>601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7</vt:i4>
  </property>
  <property fmtid="{D5CDD505-2E9C-101B-9397-08002B2CF9AE}" pid="7" name="PresentationFormat">
    <vt:lpwstr>Custom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7</vt:i4>
  </property>
</Properties>
</file>