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notesSlides/notesSlide1.xml" ContentType="application/vnd.openxmlformats-officedocument.presentationml.notesSlide+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5.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_rels/slideLayout33.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6.xml.rels" ContentType="application/vnd.openxmlformats-package.relationships+xml"/>
  <Override PartName="/ppt/slideLayouts/_rels/slideLayout21.xml.rels" ContentType="application/vnd.openxmlformats-package.relationships+xml"/>
  <Override PartName="/ppt/slideLayouts/_rels/slideLayout20.xml.rels" ContentType="application/vnd.openxmlformats-package.relationships+xml"/>
  <Override PartName="/ppt/slideLayouts/_rels/slideLayout12.xml.rels" ContentType="application/vnd.openxmlformats-package.relationships+xml"/>
  <Override PartName="/ppt/slideLayouts/_rels/slideLayout5.xml.rels" ContentType="application/vnd.openxmlformats-package.relationships+xml"/>
  <Override PartName="/ppt/slideLayouts/_rels/slideLayout24.xml.rels" ContentType="application/vnd.openxmlformats-package.relationships+xml"/>
  <Override PartName="/ppt/slideLayouts/_rels/slideLayout26.xml.rels" ContentType="application/vnd.openxmlformats-package.relationships+xml"/>
  <Override PartName="/ppt/slideLayouts/_rels/slideLayout34.xml.rels" ContentType="application/vnd.openxmlformats-package.relationships+xml"/>
  <Override PartName="/ppt/slideLayouts/_rels/slideLayout17.xml.rels" ContentType="application/vnd.openxmlformats-package.relationships+xml"/>
  <Override PartName="/ppt/slideLayouts/_rels/slideLayout25.xml.rels" ContentType="application/vnd.openxmlformats-package.relationships+xml"/>
  <Override PartName="/ppt/slideLayouts/_rels/slideLayout18.xml.rels" ContentType="application/vnd.openxmlformats-package.relationships+xml"/>
  <Override PartName="/ppt/slideLayouts/_rels/slideLayout35.xml.rels" ContentType="application/vnd.openxmlformats-package.relationships+xml"/>
  <Override PartName="/ppt/slideLayouts/_rels/slideLayout27.xml.rels" ContentType="application/vnd.openxmlformats-package.relationships+xml"/>
  <Override PartName="/ppt/slideLayouts/_rels/slideLayout4.xml.rels" ContentType="application/vnd.openxmlformats-package.relationships+xml"/>
  <Override PartName="/ppt/slideLayouts/_rels/slideLayout10.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13.xml.rels" ContentType="application/vnd.openxmlformats-package.relationships+xml"/>
  <Override PartName="/ppt/slideLayouts/_rels/slideLayout30.xml.rels" ContentType="application/vnd.openxmlformats-package.relationships+xml"/>
  <Override PartName="/ppt/slideLayouts/_rels/slideLayout22.xml.rels" ContentType="application/vnd.openxmlformats-package.relationships+xml"/>
  <Override PartName="/ppt/slideLayouts/_rels/slideLayout31.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2.xml.rels" ContentType="application/vnd.openxmlformats-package.relationships+xml"/>
  <Override PartName="/ppt/slideLayouts/_rels/slideLayout28.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36.xml.rels" ContentType="application/vnd.openxmlformats-package.relationships+xml"/>
  <Override PartName="/ppt/slideLayouts/slideLayout26.xml" ContentType="application/vnd.openxmlformats-officedocument.presentationml.slideLayout+xml"/>
  <Override PartName="/ppt/slideLayouts/slideLayout18.xml" ContentType="application/vnd.openxmlformats-officedocument.presentationml.slideLayout+xml"/>
  <Override PartName="/ppt/slideLayouts/slideLayout35.xml" ContentType="application/vnd.openxmlformats-officedocument.presentationml.slideLayout+xml"/>
  <Override PartName="/ppt/slideLayouts/slideLayout25.xml" ContentType="application/vnd.openxmlformats-officedocument.presentationml.slideLayout+xml"/>
  <Override PartName="/ppt/slideLayouts/slideLayout17.xml" ContentType="application/vnd.openxmlformats-officedocument.presentationml.slideLayout+xml"/>
  <Override PartName="/ppt/slideLayouts/slideLayout34.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2.xml" ContentType="application/vnd.openxmlformats-officedocument.presentationml.slideLayout+xml"/>
  <Override PartName="/ppt/slideLayouts/slideLayout3.xml" ContentType="application/vnd.openxmlformats-officedocument.presentationml.slideLayout+xml"/>
  <Override PartName="/ppt/slideLayouts/slideLayout29.xml" ContentType="application/vnd.openxmlformats-officedocument.presentationml.slideLayout+xml"/>
  <Override PartName="/ppt/slideLayouts/slideLayout8.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7.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2.xml" ContentType="application/vnd.openxmlformats-officedocument.presentationml.slideLayout+xml"/>
  <Override PartName="/ppt/slideLayouts/slideLayout28.xml" ContentType="application/vnd.openxmlformats-officedocument.presentationml.slideLayout+xml"/>
  <Override PartName="/ppt/slideLayouts/slideLayout1.xml" ContentType="application/vnd.openxmlformats-officedocument.presentationml.slideLayout+xml"/>
  <Override PartName="/ppt/slideLayouts/slideLayout36.xml" ContentType="application/vnd.openxmlformats-officedocument.presentationml.slideLayout+xml"/>
  <Override PartName="/ppt/slideLayouts/slideLayout19.xml" ContentType="application/vnd.openxmlformats-officedocument.presentationml.slideLayout+xml"/>
  <Override PartName="/ppt/slideLayouts/slideLayout27.xml" ContentType="application/vnd.openxmlformats-officedocument.presentationml.slideLayout+xml"/>
  <Override PartName="/ppt/slideLayouts/slideLayout14.xml" ContentType="application/vnd.openxmlformats-officedocument.presentationml.slideLayout+xml"/>
  <Override PartName="/ppt/slideLayouts/slideLayout31.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15.xml" ContentType="application/vnd.openxmlformats-officedocument.presentationml.slideLayout+xml"/>
  <Override PartName="/ppt/slideLayouts/slideLayout32.xml" ContentType="application/vnd.openxmlformats-officedocument.presentationml.slideLayout+xml"/>
  <Override PartName="/ppt/slideLayouts/slideLayout16.xml" ContentType="application/vnd.openxmlformats-officedocument.presentationml.slideLayout+xml"/>
  <Override PartName="/ppt/slideLayouts/slideLayout33.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9.png" ContentType="image/png"/>
  <Override PartName="/ppt/media/image10.png" ContentType="image/png"/>
  <Override PartName="/ppt/media/image2.wmf" ContentType="image/x-wmf"/>
  <Override PartName="/ppt/media/image13.png" ContentType="image/png"/>
  <Override PartName="/ppt/media/image5.wmf" ContentType="image/x-wmf"/>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3.jpeg" ContentType="image/jpeg"/>
  <Override PartName="/ppt/media/image6.png" ContentType="image/png"/>
  <Override PartName="/ppt/media/image11.png" ContentType="image/png"/>
  <Override PartName="/ppt/media/image4.png" ContentType="image/png"/>
  <Override PartName="/ppt/media/image7.png" ContentType="image/png"/>
  <Override PartName="/ppt/media/image12.png" ContentType="image/png"/>
  <Override PartName="/ppt/media/image1.wmf" ContentType="image/x-wmf"/>
  <Override PartName="/ppt/media/image8.png" ContentType="image/png"/>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2.xml.rels" ContentType="application/vnd.openxmlformats-package.relationships+xml"/>
  <Override PartName="/ppt/slides/_rels/slide3.xml.rels" ContentType="application/vnd.openxmlformats-package.relationships+xml"/>
  <Override PartName="/ppt/slides/_rels/slide11.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1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2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26"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27"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8"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D84BB4B-CBB7-4C9A-AC17-AD2996E7E47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hyperlink" Target="https://www.nature.com/articles/s43588-021-00184-y" TargetMode="External"/><Relationship Id="rId2" Type="http://schemas.openxmlformats.org/officeDocument/2006/relationships/hyperlink" Target="https://www.nature.com/articles/s43588-021-00184-y" TargetMode="External"/><Relationship Id="rId3" Type="http://schemas.openxmlformats.org/officeDocument/2006/relationships/hyperlink" Target="https://www.nature.com/articles/s43588-021-00184-y" TargetMode="External"/><Relationship Id="rId4" Type="http://schemas.openxmlformats.org/officeDocument/2006/relationships/hyperlink" Target="https://www.nature.com/articles/s43588-021-00184-y" TargetMode="External"/><Relationship Id="rId5" Type="http://schemas.openxmlformats.org/officeDocument/2006/relationships/hyperlink" Target="https://www.nature.com/articles/s43588-021-00184-y" TargetMode="External"/><Relationship Id="rId6" Type="http://schemas.openxmlformats.org/officeDocument/2006/relationships/hyperlink" Target="https://www.nature.com/articles/s43588-021-00184-y" TargetMode="External"/><Relationship Id="rId7" Type="http://schemas.openxmlformats.org/officeDocument/2006/relationships/slide" Target="../slides/slide4.xml"/><Relationship Id="rId8"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4600" cy="3084480"/>
          </a:xfrm>
          <a:prstGeom prst="rect">
            <a:avLst/>
          </a:prstGeom>
          <a:ln w="0">
            <a:noFill/>
          </a:ln>
        </p:spPr>
      </p:sp>
      <p:sp>
        <p:nvSpPr>
          <p:cNvPr id="219"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lnSpc>
                <a:spcPct val="100000"/>
              </a:lnSpc>
              <a:buNone/>
              <a:tabLst>
                <a:tab algn="l" pos="0"/>
              </a:tabLst>
            </a:pPr>
            <a:r>
              <a:rPr b="0" i="1" lang="en" sz="2000" spc="-1" strike="noStrike">
                <a:solidFill>
                  <a:srgbClr val="000000"/>
                </a:solidFill>
                <a:latin typeface="Arial"/>
              </a:rPr>
              <a:t>XML is a classic political compromise: it balances the needs of man and machine by being equally unreadable to both.</a:t>
            </a:r>
            <a:endParaRPr b="0" lang="en-US" sz="2000" spc="-1" strike="noStrike">
              <a:solidFill>
                <a:srgbClr val="000000"/>
              </a:solidFill>
              <a:latin typeface="Arial"/>
            </a:endParaRPr>
          </a:p>
          <a:p>
            <a:pPr marL="216000" indent="0">
              <a:lnSpc>
                <a:spcPct val="100000"/>
              </a:lnSpc>
              <a:buNone/>
              <a:tabLst>
                <a:tab algn="l" pos="0"/>
              </a:tabLst>
            </a:pPr>
            <a:r>
              <a:rPr b="0" lang="en" sz="2000" spc="-1" strike="noStrike">
                <a:solidFill>
                  <a:srgbClr val="000000"/>
                </a:solidFill>
                <a:latin typeface="Arial"/>
              </a:rPr>
              <a:t>- Matthew Might </a:t>
            </a:r>
            <a:endParaRPr b="0" lang="en-US" sz="2000" spc="-1" strike="noStrike">
              <a:solidFill>
                <a:srgbClr val="000000"/>
              </a:solidFill>
              <a:latin typeface="Arial"/>
            </a:endParaRPr>
          </a:p>
        </p:txBody>
      </p:sp>
      <p:sp>
        <p:nvSpPr>
          <p:cNvPr id="220" name="TextShape 7"/>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5A81B458-F532-4CF2-85FF-633D25DA404F}" type="slidenum">
              <a:rPr b="0" lang="en" sz="1200" spc="-1" strike="noStrike">
                <a:solidFill>
                  <a:srgbClr val="000000"/>
                </a:solidFill>
                <a:latin typeface="+mn-lt"/>
                <a:ea typeface="+mn-ea"/>
              </a:rPr>
              <a:t>1</a:t>
            </a:fld>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4600" cy="3084480"/>
          </a:xfrm>
          <a:prstGeom prst="rect">
            <a:avLst/>
          </a:prstGeom>
          <a:ln w="0">
            <a:noFill/>
          </a:ln>
        </p:spPr>
      </p:sp>
      <p:sp>
        <p:nvSpPr>
          <p:cNvPr id="222"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buNone/>
            </a:pPr>
            <a:endParaRPr b="0" lang="en-US" sz="1800" spc="-1" strike="noStrike">
              <a:solidFill>
                <a:srgbClr val="000000"/>
              </a:solidFill>
              <a:latin typeface="Arial"/>
            </a:endParaRPr>
          </a:p>
        </p:txBody>
      </p:sp>
      <p:sp>
        <p:nvSpPr>
          <p:cNvPr id="223" name="TextShape 3"/>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4C264D10-3E31-4046-9DEF-6670D927F226}" type="slidenum">
              <a:rPr b="0" lang="en" sz="1200" spc="-1" strike="noStrike">
                <a:solidFill>
                  <a:srgbClr val="000000"/>
                </a:solidFill>
                <a:latin typeface="+mn-lt"/>
                <a:ea typeface="+mn-ea"/>
              </a:rPr>
              <a:t>2</a:t>
            </a:fld>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4600" cy="3084480"/>
          </a:xfrm>
          <a:prstGeom prst="rect">
            <a:avLst/>
          </a:prstGeom>
          <a:ln w="0">
            <a:noFill/>
          </a:ln>
        </p:spPr>
      </p:sp>
      <p:sp>
        <p:nvSpPr>
          <p:cNvPr id="225"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lnSpc>
                <a:spcPct val="100000"/>
              </a:lnSpc>
              <a:buNone/>
              <a:tabLst>
                <a:tab algn="l" pos="0"/>
              </a:tabLst>
            </a:pPr>
            <a:r>
              <a:rPr b="0" lang="en" sz="2000" spc="-1" strike="noStrike">
                <a:solidFill>
                  <a:srgbClr val="000000"/>
                </a:solidFill>
                <a:latin typeface="Arial"/>
              </a:rPr>
              <a:t>- browser: Chrome or Firefox</a:t>
            </a:r>
            <a:endParaRPr b="0" lang="en-US" sz="2000" spc="-1" strike="noStrike">
              <a:solidFill>
                <a:srgbClr val="000000"/>
              </a:solidFill>
              <a:latin typeface="Arial"/>
            </a:endParaRPr>
          </a:p>
        </p:txBody>
      </p:sp>
      <p:sp>
        <p:nvSpPr>
          <p:cNvPr id="226" name="TextShape 25"/>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A4EB6713-2E35-46EE-B034-C6CB058D9603}" type="slidenum">
              <a:rPr b="0" lang="en" sz="1200" spc="-1" strike="noStrike">
                <a:solidFill>
                  <a:srgbClr val="000000"/>
                </a:solidFill>
                <a:latin typeface="+mn-lt"/>
                <a:ea typeface="+mn-ea"/>
              </a:rPr>
              <a:t>3</a:t>
            </a:fld>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4960" cy="3084840"/>
          </a:xfrm>
          <a:prstGeom prst="rect">
            <a:avLst/>
          </a:prstGeom>
          <a:ln w="0">
            <a:noFill/>
          </a:ln>
        </p:spPr>
      </p:sp>
      <p:sp>
        <p:nvSpPr>
          <p:cNvPr id="228" name="PlaceHolder 2"/>
          <p:cNvSpPr>
            <a:spLocks noGrp="1"/>
          </p:cNvSpPr>
          <p:nvPr>
            <p:ph type="body"/>
          </p:nvPr>
        </p:nvSpPr>
        <p:spPr>
          <a:xfrm>
            <a:off x="685800" y="4400640"/>
            <a:ext cx="5484960" cy="3598920"/>
          </a:xfrm>
          <a:prstGeom prst="rect">
            <a:avLst/>
          </a:prstGeom>
          <a:noFill/>
          <a:ln w="0">
            <a:noFill/>
          </a:ln>
        </p:spPr>
        <p:txBody>
          <a:bodyPr lIns="0" rIns="0" tIns="0" bIns="0" anchor="t">
            <a:normAutofit fontScale="93000"/>
          </a:bodyPr>
          <a:p>
            <a:pPr marL="200880" indent="0">
              <a:lnSpc>
                <a:spcPct val="100000"/>
              </a:lnSpc>
              <a:buNone/>
              <a:tabLst>
                <a:tab algn="l" pos="0"/>
              </a:tabLst>
            </a:pPr>
            <a:r>
              <a:rPr b="0" lang="en-US" sz="1000" spc="-1" strike="noStrike">
                <a:solidFill>
                  <a:srgbClr val="000000"/>
                </a:solidFill>
                <a:latin typeface="Arial"/>
              </a:rPr>
              <a:t>Highly parallel operation: neuromorphic computers are inherently parallel, where all of the neurons and synapses can potentially be operating simultaneously; however, the computations performed by neurons and synapses are relatively simple when compared with the parallelized von Neumann systems.</a:t>
            </a:r>
            <a:endParaRPr b="0" lang="en-US" sz="1000" spc="-1" strike="noStrike">
              <a:solidFill>
                <a:srgbClr val="000000"/>
              </a:solidFill>
              <a:latin typeface="Arial"/>
            </a:endParaRPr>
          </a:p>
          <a:p>
            <a:pPr marL="200880" indent="0">
              <a:lnSpc>
                <a:spcPct val="100000"/>
              </a:lnSpc>
              <a:buNone/>
              <a:tabLst>
                <a:tab algn="l" pos="0"/>
              </a:tabLst>
            </a:pPr>
            <a:r>
              <a:rPr b="0" lang="en-US" sz="1000" spc="-1" strike="noStrike">
                <a:solidFill>
                  <a:srgbClr val="000000"/>
                </a:solidFill>
                <a:latin typeface="Arial"/>
              </a:rPr>
              <a:t>Collocated processing and memory: there is no notion of a separation of processing and memory in neuromorphic hardware. Although neurons are sometimes thought of as processing units and synapses are sometimes thought of as memory, the neurons and synapses both perform processing and store values in many implementations. The collocation of processing and memory helps mitigate the von Neumann bottleneck regarding the processor/memory separation, which causes a slowdown in the maximum throughput that can be achieved. In addition, this collocation helps avoid data accesses from main memory, as in conventional computing systems, which consume a considerable amount of energy compared with the compute energy</a:t>
            </a:r>
            <a:r>
              <a:rPr b="0" lang="en-US" sz="1000" spc="-1" strike="noStrike" u="sng" baseline="30000">
                <a:solidFill>
                  <a:srgbClr val="000000"/>
                </a:solidFill>
                <a:uFillTx/>
                <a:latin typeface="Arial"/>
                <a:hlinkClick r:id="rId1"/>
              </a:rPr>
              <a:t>4</a:t>
            </a:r>
            <a:r>
              <a:rPr b="0" lang="en-US" sz="1000" spc="-1" strike="noStrike">
                <a:solidFill>
                  <a:srgbClr val="000000"/>
                </a:solidFill>
                <a:latin typeface="Arial"/>
              </a:rPr>
              <a:t>.</a:t>
            </a:r>
            <a:endParaRPr b="0" lang="en-US" sz="1000" spc="-1" strike="noStrike">
              <a:solidFill>
                <a:srgbClr val="000000"/>
              </a:solidFill>
              <a:latin typeface="Arial"/>
            </a:endParaRPr>
          </a:p>
          <a:p>
            <a:pPr marL="200880" indent="0">
              <a:lnSpc>
                <a:spcPct val="100000"/>
              </a:lnSpc>
              <a:buNone/>
              <a:tabLst>
                <a:tab algn="l" pos="0"/>
              </a:tabLst>
            </a:pPr>
            <a:r>
              <a:rPr b="0" lang="en-US" sz="1000" spc="-1" strike="noStrike">
                <a:solidFill>
                  <a:srgbClr val="000000"/>
                </a:solidFill>
                <a:latin typeface="Arial"/>
              </a:rPr>
              <a:t>Inherent scalability: neuromorphic computers are meant to be inherently scalable as adding additional neuromorphic chips entails increasing the number of neurons and synapses that can be realized. It is possible to take multiple physical neuromorphic chips and treat them as a single large neuromorphic implementation to run larger and larger networks. This has been successfully accomplished across a variety of large-scale neuromorphic hardware systems, including SpiNNaker</a:t>
            </a:r>
            <a:r>
              <a:rPr b="0" lang="en-US" sz="1000" spc="-1" strike="noStrike" u="sng" baseline="30000">
                <a:solidFill>
                  <a:srgbClr val="000000"/>
                </a:solidFill>
                <a:uFillTx/>
                <a:latin typeface="Arial"/>
                <a:hlinkClick r:id="rId2"/>
              </a:rPr>
              <a:t>5</a:t>
            </a:r>
            <a:r>
              <a:rPr b="0" lang="en-US" sz="1000" spc="-1" strike="noStrike" baseline="30000">
                <a:solidFill>
                  <a:srgbClr val="000000"/>
                </a:solidFill>
                <a:latin typeface="Arial"/>
              </a:rPr>
              <a:t>,</a:t>
            </a:r>
            <a:r>
              <a:rPr b="0" lang="en-US" sz="1000" spc="-1" strike="noStrike" u="sng" baseline="30000">
                <a:solidFill>
                  <a:srgbClr val="000000"/>
                </a:solidFill>
                <a:uFillTx/>
                <a:latin typeface="Arial"/>
                <a:hlinkClick r:id="rId3"/>
              </a:rPr>
              <a:t>6</a:t>
            </a:r>
            <a:r>
              <a:rPr b="0" lang="en-US" sz="1000" spc="-1" strike="noStrike">
                <a:solidFill>
                  <a:srgbClr val="000000"/>
                </a:solidFill>
                <a:latin typeface="Arial"/>
              </a:rPr>
              <a:t> and Loihi</a:t>
            </a:r>
            <a:r>
              <a:rPr b="0" lang="en-US" sz="1000" spc="-1" strike="noStrike" u="sng" baseline="30000">
                <a:solidFill>
                  <a:srgbClr val="000000"/>
                </a:solidFill>
                <a:uFillTx/>
                <a:latin typeface="Arial"/>
                <a:hlinkClick r:id="rId4"/>
              </a:rPr>
              <a:t>7</a:t>
            </a:r>
            <a:r>
              <a:rPr b="0" lang="en-US" sz="1000" spc="-1" strike="noStrike">
                <a:solidFill>
                  <a:srgbClr val="000000"/>
                </a:solidFill>
                <a:latin typeface="Arial"/>
              </a:rPr>
              <a:t>.</a:t>
            </a:r>
            <a:endParaRPr b="0" lang="en-US" sz="1000" spc="-1" strike="noStrike">
              <a:solidFill>
                <a:srgbClr val="000000"/>
              </a:solidFill>
              <a:latin typeface="Arial"/>
            </a:endParaRPr>
          </a:p>
          <a:p>
            <a:pPr marL="200880" indent="0">
              <a:lnSpc>
                <a:spcPct val="100000"/>
              </a:lnSpc>
              <a:buNone/>
              <a:tabLst>
                <a:tab algn="l" pos="0"/>
              </a:tabLst>
            </a:pPr>
            <a:r>
              <a:rPr b="0" lang="en-US" sz="1000" spc="-1" strike="noStrike">
                <a:solidFill>
                  <a:srgbClr val="000000"/>
                </a:solidFill>
                <a:latin typeface="Arial"/>
              </a:rPr>
              <a:t>Event-driven computation: neuromorphic computers leverage event-driven computation (meaning, computing only when data are available) and temporally sparse activity to allow for extremely efficient computation</a:t>
            </a:r>
            <a:r>
              <a:rPr b="0" lang="en-US" sz="1000" spc="-1" strike="noStrike" u="sng" baseline="30000">
                <a:solidFill>
                  <a:srgbClr val="000000"/>
                </a:solidFill>
                <a:uFillTx/>
                <a:latin typeface="Arial"/>
                <a:hlinkClick r:id="rId5"/>
              </a:rPr>
              <a:t>8</a:t>
            </a:r>
            <a:r>
              <a:rPr b="0" lang="en-US" sz="1000" spc="-1" strike="noStrike" baseline="30000">
                <a:solidFill>
                  <a:srgbClr val="000000"/>
                </a:solidFill>
                <a:latin typeface="Arial"/>
              </a:rPr>
              <a:t>,</a:t>
            </a:r>
            <a:r>
              <a:rPr b="0" lang="en-US" sz="1000" spc="-1" strike="noStrike" u="sng" baseline="30000">
                <a:solidFill>
                  <a:srgbClr val="000000"/>
                </a:solidFill>
                <a:uFillTx/>
                <a:latin typeface="Arial"/>
                <a:hlinkClick r:id="rId6"/>
              </a:rPr>
              <a:t>9</a:t>
            </a:r>
            <a:r>
              <a:rPr b="0" lang="en-US" sz="1000" spc="-1" strike="noStrike">
                <a:solidFill>
                  <a:srgbClr val="000000"/>
                </a:solidFill>
                <a:latin typeface="Arial"/>
              </a:rPr>
              <a:t>. Neurons and synapses only perform work when there are spikes to process, and typically, spikes are relatively sparse within the operation of the network.</a:t>
            </a:r>
            <a:endParaRPr b="0" lang="en-US" sz="1000" spc="-1" strike="noStrike">
              <a:solidFill>
                <a:srgbClr val="000000"/>
              </a:solidFill>
              <a:latin typeface="Arial"/>
            </a:endParaRPr>
          </a:p>
          <a:p>
            <a:pPr marL="200880" indent="0">
              <a:lnSpc>
                <a:spcPct val="100000"/>
              </a:lnSpc>
              <a:buNone/>
              <a:tabLst>
                <a:tab algn="l" pos="0"/>
              </a:tabLst>
            </a:pPr>
            <a:endParaRPr b="0" lang="en-US" sz="1000" spc="-1" strike="noStrike">
              <a:solidFill>
                <a:srgbClr val="000000"/>
              </a:solidFill>
              <a:latin typeface="Arial"/>
            </a:endParaRPr>
          </a:p>
          <a:p>
            <a:pPr marL="200880" indent="0">
              <a:lnSpc>
                <a:spcPct val="100000"/>
              </a:lnSpc>
              <a:buNone/>
              <a:tabLst>
                <a:tab algn="l" pos="0"/>
              </a:tabLst>
            </a:pPr>
            <a:endParaRPr b="0" lang="en-US" sz="1000" spc="-1" strike="noStrike">
              <a:solidFill>
                <a:srgbClr val="000000"/>
              </a:solidFill>
              <a:latin typeface="Arial"/>
            </a:endParaRPr>
          </a:p>
          <a:p>
            <a:pPr marL="200880" indent="0">
              <a:lnSpc>
                <a:spcPct val="100000"/>
              </a:lnSpc>
              <a:buNone/>
              <a:tabLst>
                <a:tab algn="l" pos="0"/>
              </a:tabLst>
            </a:pPr>
            <a:r>
              <a:rPr b="0" lang="en-US" sz="1000" spc="-1" strike="noStrike">
                <a:solidFill>
                  <a:srgbClr val="000000"/>
                </a:solidFill>
                <a:latin typeface="Arial"/>
              </a:rPr>
              <a:t>Many current examples: IBM TrueNorth; Intel Loihi (both digital); BrainScaleS project in Heidelberg (actual analog electronics!)</a:t>
            </a:r>
            <a:endParaRPr b="0" lang="en-US" sz="1000" spc="-1" strike="noStrike">
              <a:solidFill>
                <a:srgbClr val="000000"/>
              </a:solidFill>
              <a:latin typeface="Arial"/>
            </a:endParaRPr>
          </a:p>
        </p:txBody>
      </p:sp>
      <p:sp>
        <p:nvSpPr>
          <p:cNvPr id="229" name="PlaceHolder 3"/>
          <p:cNvSpPr>
            <a:spLocks noGrp="1"/>
          </p:cNvSpPr>
          <p:nvPr>
            <p:ph type="sldNum" idx="4"/>
          </p:nvPr>
        </p:nvSpPr>
        <p:spPr>
          <a:xfrm>
            <a:off x="3884760" y="8685360"/>
            <a:ext cx="2970360" cy="457200"/>
          </a:xfrm>
          <a:prstGeom prst="rect">
            <a:avLst/>
          </a:prstGeom>
          <a:noFill/>
          <a:ln w="0">
            <a:noFill/>
          </a:ln>
        </p:spPr>
        <p:txBody>
          <a:bodyPr lIns="0" rIns="0" tIns="0" bIns="0" anchor="b">
            <a:noAutofit/>
          </a:bodyPr>
          <a:lstStyle>
            <a:lvl1pPr indent="0" algn="r">
              <a:lnSpc>
                <a:spcPct val="100000"/>
              </a:lnSpc>
              <a:buNone/>
              <a:tabLst>
                <a:tab algn="l" pos="0"/>
              </a:tabLst>
              <a:defRPr b="0" lang="de-DE" sz="1200" spc="-1" strike="noStrike">
                <a:solidFill>
                  <a:srgbClr val="000000"/>
                </a:solidFill>
                <a:latin typeface="+mn-lt"/>
                <a:ea typeface="+mn-ea"/>
              </a:defRPr>
            </a:lvl1pPr>
          </a:lstStyle>
          <a:p>
            <a:pPr indent="0" algn="r">
              <a:lnSpc>
                <a:spcPct val="100000"/>
              </a:lnSpc>
              <a:buNone/>
              <a:tabLst>
                <a:tab algn="l" pos="0"/>
              </a:tabLst>
            </a:pPr>
            <a:fld id="{8F34B818-396D-46B7-B224-01900EB19F2F}" type="slidenum">
              <a:rPr b="0" lang="de-DE" sz="1200" spc="-1" strike="noStrike">
                <a:solidFill>
                  <a:srgbClr val="000000"/>
                </a:solidFill>
                <a:latin typeface="+mn-lt"/>
                <a:ea typeface="+mn-ea"/>
              </a:rPr>
              <a:t>4</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4600" cy="3084480"/>
          </a:xfrm>
          <a:prstGeom prst="rect">
            <a:avLst/>
          </a:prstGeom>
          <a:ln w="0">
            <a:noFill/>
          </a:ln>
        </p:spPr>
      </p:sp>
      <p:sp>
        <p:nvSpPr>
          <p:cNvPr id="231"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lnSpc>
                <a:spcPct val="100000"/>
              </a:lnSpc>
              <a:buNone/>
              <a:tabLst>
                <a:tab algn="l" pos="0"/>
              </a:tabLst>
            </a:pPr>
            <a:r>
              <a:rPr b="0" lang="en" sz="2000" spc="-1" strike="noStrike">
                <a:solidFill>
                  <a:srgbClr val="000000"/>
                </a:solidFill>
                <a:latin typeface="Arial"/>
              </a:rPr>
              <a:t>- browser: Chrome or Firefox</a:t>
            </a:r>
            <a:endParaRPr b="0" lang="en-US" sz="2000" spc="-1" strike="noStrike">
              <a:solidFill>
                <a:srgbClr val="000000"/>
              </a:solidFill>
              <a:latin typeface="Arial"/>
            </a:endParaRPr>
          </a:p>
        </p:txBody>
      </p:sp>
      <p:sp>
        <p:nvSpPr>
          <p:cNvPr id="232" name="TextShape 9"/>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FE0F7733-441D-454A-A89F-DC316E7DBA60}" type="slidenum">
              <a:rPr b="0" lang="en" sz="1200" spc="-1" strike="noStrike">
                <a:solidFill>
                  <a:srgbClr val="000000"/>
                </a:solidFill>
                <a:latin typeface="+mn-lt"/>
                <a:ea typeface="+mn-ea"/>
              </a:rPr>
              <a:t>5</a:t>
            </a:fld>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4600" cy="3084480"/>
          </a:xfrm>
          <a:prstGeom prst="rect">
            <a:avLst/>
          </a:prstGeom>
          <a:ln w="0">
            <a:noFill/>
          </a:ln>
        </p:spPr>
      </p:sp>
      <p:sp>
        <p:nvSpPr>
          <p:cNvPr id="234"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lnSpc>
                <a:spcPct val="100000"/>
              </a:lnSpc>
              <a:buNone/>
              <a:tabLst>
                <a:tab algn="l" pos="0"/>
              </a:tabLst>
            </a:pPr>
            <a:r>
              <a:rPr b="0" lang="en" sz="2000" spc="-1" strike="noStrike">
                <a:solidFill>
                  <a:srgbClr val="000000"/>
                </a:solidFill>
                <a:latin typeface="Arial"/>
              </a:rPr>
              <a:t>- browser: Chrome or Firefox</a:t>
            </a:r>
            <a:endParaRPr b="0" lang="en-US" sz="2000" spc="-1" strike="noStrike">
              <a:solidFill>
                <a:srgbClr val="000000"/>
              </a:solidFill>
              <a:latin typeface="Arial"/>
            </a:endParaRPr>
          </a:p>
        </p:txBody>
      </p:sp>
      <p:sp>
        <p:nvSpPr>
          <p:cNvPr id="235" name="TextShape 12"/>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BE557A21-93C2-4FD0-8A36-FEE84E80845A}" type="slidenum">
              <a:rPr b="0" lang="en" sz="1200" spc="-1" strike="noStrike">
                <a:solidFill>
                  <a:srgbClr val="000000"/>
                </a:solidFill>
                <a:latin typeface="+mn-lt"/>
                <a:ea typeface="+mn-ea"/>
              </a:rPr>
              <a:t>6</a:t>
            </a:fld>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3880" cy="3083760"/>
          </a:xfrm>
          <a:prstGeom prst="rect">
            <a:avLst/>
          </a:prstGeom>
          <a:ln w="0">
            <a:noFill/>
          </a:ln>
        </p:spPr>
      </p:sp>
      <p:sp>
        <p:nvSpPr>
          <p:cNvPr id="237" name="PlaceHolder 2"/>
          <p:cNvSpPr>
            <a:spLocks noGrp="1"/>
          </p:cNvSpPr>
          <p:nvPr>
            <p:ph type="body"/>
          </p:nvPr>
        </p:nvSpPr>
        <p:spPr>
          <a:xfrm>
            <a:off x="685800" y="4400640"/>
            <a:ext cx="5483880" cy="3597840"/>
          </a:xfrm>
          <a:prstGeom prst="rect">
            <a:avLst/>
          </a:prstGeom>
          <a:noFill/>
          <a:ln w="0">
            <a:noFill/>
          </a:ln>
        </p:spPr>
        <p:txBody>
          <a:bodyPr lIns="0" rIns="0" tIns="0" bIns="0" anchor="t">
            <a:normAutofit/>
          </a:bodyPr>
          <a:p>
            <a:pPr marL="216000" indent="0">
              <a:lnSpc>
                <a:spcPct val="100000"/>
              </a:lnSpc>
              <a:buNone/>
              <a:tabLst>
                <a:tab algn="l" pos="0"/>
              </a:tabLst>
            </a:pPr>
            <a:r>
              <a:rPr b="0" lang="en" sz="2000" spc="-1" strike="noStrike">
                <a:solidFill>
                  <a:srgbClr val="000000"/>
                </a:solidFill>
                <a:latin typeface="Arial"/>
              </a:rPr>
              <a:t>- browser: Chrome or Firefox</a:t>
            </a:r>
            <a:endParaRPr b="0" lang="en-US" sz="2000" spc="-1" strike="noStrike">
              <a:solidFill>
                <a:srgbClr val="000000"/>
              </a:solidFill>
              <a:latin typeface="Arial"/>
            </a:endParaRPr>
          </a:p>
        </p:txBody>
      </p:sp>
      <p:sp>
        <p:nvSpPr>
          <p:cNvPr id="238" name="TextShape 16"/>
          <p:cNvSpPr/>
          <p:nvPr/>
        </p:nvSpPr>
        <p:spPr>
          <a:xfrm>
            <a:off x="3884760" y="8685360"/>
            <a:ext cx="2969280" cy="45612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0E04D602-49A2-4E19-8227-85E78E466744}" type="slidenum">
              <a:rPr b="0" lang="en" sz="1200" spc="-1" strike="noStrike">
                <a:solidFill>
                  <a:srgbClr val="000000"/>
                </a:solidFill>
                <a:latin typeface="+mn-lt"/>
                <a:ea typeface="+mn-ea"/>
              </a:rPr>
              <a:t>7</a:t>
            </a:fld>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3880" cy="3083760"/>
          </a:xfrm>
          <a:prstGeom prst="rect">
            <a:avLst/>
          </a:prstGeom>
          <a:ln w="0">
            <a:noFill/>
          </a:ln>
        </p:spPr>
      </p:sp>
      <p:sp>
        <p:nvSpPr>
          <p:cNvPr id="240" name="PlaceHolder 2"/>
          <p:cNvSpPr>
            <a:spLocks noGrp="1"/>
          </p:cNvSpPr>
          <p:nvPr>
            <p:ph type="body"/>
          </p:nvPr>
        </p:nvSpPr>
        <p:spPr>
          <a:xfrm>
            <a:off x="685800" y="4400640"/>
            <a:ext cx="5483880" cy="3597840"/>
          </a:xfrm>
          <a:prstGeom prst="rect">
            <a:avLst/>
          </a:prstGeom>
          <a:noFill/>
          <a:ln w="0">
            <a:noFill/>
          </a:ln>
        </p:spPr>
        <p:txBody>
          <a:bodyPr lIns="0" rIns="0" tIns="0" bIns="0" anchor="t">
            <a:normAutofit/>
          </a:bodyPr>
          <a:p>
            <a:pPr marL="216000" indent="0">
              <a:lnSpc>
                <a:spcPct val="100000"/>
              </a:lnSpc>
              <a:buNone/>
              <a:tabLst>
                <a:tab algn="l" pos="0"/>
              </a:tabLst>
            </a:pPr>
            <a:r>
              <a:rPr b="0" lang="en" sz="2000" spc="-1" strike="noStrike">
                <a:solidFill>
                  <a:srgbClr val="000000"/>
                </a:solidFill>
                <a:latin typeface="Arial"/>
              </a:rPr>
              <a:t>- browser: Chrome or Firefox</a:t>
            </a:r>
            <a:endParaRPr b="0" lang="en-US" sz="2000" spc="-1" strike="noStrike">
              <a:solidFill>
                <a:srgbClr val="000000"/>
              </a:solidFill>
              <a:latin typeface="Arial"/>
            </a:endParaRPr>
          </a:p>
        </p:txBody>
      </p:sp>
      <p:sp>
        <p:nvSpPr>
          <p:cNvPr id="241" name="TextShape 18"/>
          <p:cNvSpPr/>
          <p:nvPr/>
        </p:nvSpPr>
        <p:spPr>
          <a:xfrm>
            <a:off x="3884760" y="8685360"/>
            <a:ext cx="2969280" cy="45612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662C7231-F402-40F8-8374-4856FDF1F0D3}" type="slidenum">
              <a:rPr b="0" lang="en" sz="1200" spc="-1" strike="noStrike">
                <a:solidFill>
                  <a:srgbClr val="000000"/>
                </a:solidFill>
                <a:latin typeface="+mn-lt"/>
                <a:ea typeface="+mn-ea"/>
              </a:rPr>
              <a:t>8</a:t>
            </a:fld>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4600" cy="3084480"/>
          </a:xfrm>
          <a:prstGeom prst="rect">
            <a:avLst/>
          </a:prstGeom>
          <a:ln w="0">
            <a:noFill/>
          </a:ln>
        </p:spPr>
      </p:sp>
      <p:sp>
        <p:nvSpPr>
          <p:cNvPr id="243"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buNone/>
            </a:pPr>
            <a:endParaRPr b="0" lang="en-US" sz="1800" spc="-1" strike="noStrike">
              <a:solidFill>
                <a:srgbClr val="000000"/>
              </a:solidFill>
              <a:latin typeface="Arial"/>
            </a:endParaRPr>
          </a:p>
        </p:txBody>
      </p:sp>
      <p:sp>
        <p:nvSpPr>
          <p:cNvPr id="244" name="TextShape 3"/>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DE82E770-CC51-4B00-9059-472C5D1DC28D}" type="slidenum">
              <a:rPr b="0" lang="en" sz="1200" spc="-1" strike="noStrike">
                <a:solidFill>
                  <a:srgbClr val="000000"/>
                </a:solidFill>
                <a:latin typeface="+mn-lt"/>
                <a:ea typeface="+mn-ea"/>
              </a:rPr>
              <a:t>9</a:t>
            </a:fld>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4600" cy="3084480"/>
          </a:xfrm>
          <a:prstGeom prst="rect">
            <a:avLst/>
          </a:prstGeom>
          <a:ln w="0">
            <a:noFill/>
          </a:ln>
        </p:spPr>
      </p:sp>
      <p:sp>
        <p:nvSpPr>
          <p:cNvPr id="246"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buNone/>
            </a:pPr>
            <a:endParaRPr b="0" lang="en-US" sz="1800" spc="-1" strike="noStrike">
              <a:solidFill>
                <a:srgbClr val="000000"/>
              </a:solidFill>
              <a:latin typeface="Arial"/>
            </a:endParaRPr>
          </a:p>
        </p:txBody>
      </p:sp>
      <p:sp>
        <p:nvSpPr>
          <p:cNvPr id="247" name="TextShape 30"/>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96CC7064-48E2-4F33-B3B2-5434ED381A1C}" type="slidenum">
              <a:rPr b="0" lang="en" sz="1200" spc="-1" strike="noStrike">
                <a:solidFill>
                  <a:srgbClr val="000000"/>
                </a:solidFill>
                <a:latin typeface="+mn-lt"/>
                <a:ea typeface="+mn-ea"/>
              </a:rPr>
              <a:t>10</a:t>
            </a:fld>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4600" cy="3084480"/>
          </a:xfrm>
          <a:prstGeom prst="rect">
            <a:avLst/>
          </a:prstGeom>
          <a:ln w="0">
            <a:noFill/>
          </a:ln>
        </p:spPr>
      </p:sp>
      <p:sp>
        <p:nvSpPr>
          <p:cNvPr id="249"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buNone/>
            </a:pPr>
            <a:endParaRPr b="0" lang="en-US" sz="1800" spc="-1" strike="noStrike">
              <a:solidFill>
                <a:srgbClr val="000000"/>
              </a:solidFill>
              <a:latin typeface="Arial"/>
            </a:endParaRPr>
          </a:p>
        </p:txBody>
      </p:sp>
      <p:sp>
        <p:nvSpPr>
          <p:cNvPr id="250" name="TextShape 34"/>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E5CF103D-5B5A-40EA-BE9F-22AAE0DFC3EF}" type="slidenum">
              <a:rPr b="0" lang="en" sz="1200" spc="-1" strike="noStrike">
                <a:solidFill>
                  <a:srgbClr val="000000"/>
                </a:solidFill>
                <a:latin typeface="+mn-lt"/>
                <a:ea typeface="+mn-ea"/>
              </a:rPr>
              <a:t>11</a:t>
            </a:fld>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4240" cy="3084120"/>
          </a:xfrm>
          <a:prstGeom prst="rect">
            <a:avLst/>
          </a:prstGeom>
          <a:ln w="0">
            <a:noFill/>
          </a:ln>
        </p:spPr>
      </p:sp>
      <p:sp>
        <p:nvSpPr>
          <p:cNvPr id="252" name="PlaceHolder 2"/>
          <p:cNvSpPr>
            <a:spLocks noGrp="1"/>
          </p:cNvSpPr>
          <p:nvPr>
            <p:ph type="body"/>
          </p:nvPr>
        </p:nvSpPr>
        <p:spPr>
          <a:xfrm>
            <a:off x="685800" y="4400640"/>
            <a:ext cx="5484240" cy="3598200"/>
          </a:xfrm>
          <a:prstGeom prst="rect">
            <a:avLst/>
          </a:prstGeom>
          <a:noFill/>
          <a:ln w="0">
            <a:noFill/>
          </a:ln>
        </p:spPr>
        <p:txBody>
          <a:bodyPr lIns="0" rIns="0" tIns="0" bIns="0" anchor="t">
            <a:normAutofit/>
          </a:bodyPr>
          <a:p>
            <a:pPr marL="216000" indent="0">
              <a:buNone/>
            </a:pPr>
            <a:endParaRPr b="0" lang="en-US" sz="1800" spc="-1" strike="noStrike">
              <a:solidFill>
                <a:srgbClr val="000000"/>
              </a:solidFill>
              <a:latin typeface="Arial"/>
            </a:endParaRPr>
          </a:p>
        </p:txBody>
      </p:sp>
      <p:sp>
        <p:nvSpPr>
          <p:cNvPr id="253" name="TextShape 3"/>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A73F0C5B-0086-4C7B-8A20-AC229F6D3D0F}" type="slidenum">
              <a:rPr b="0" lang="en" sz="1200" spc="-1" strike="noStrike">
                <a:solidFill>
                  <a:srgbClr val="000000"/>
                </a:solidFill>
                <a:latin typeface="+mn-lt"/>
                <a:ea typeface="+mn-ea"/>
              </a:rPr>
              <a:t>12</a:t>
            </a:fld>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1.wmf"/><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wmf"/><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wmf"/><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Grafik 12" descr=""/>
          <p:cNvPicPr/>
          <p:nvPr/>
        </p:nvPicPr>
        <p:blipFill>
          <a:blip r:embed="rId2"/>
          <a:stretch/>
        </p:blipFill>
        <p:spPr>
          <a:xfrm>
            <a:off x="9938520" y="6005520"/>
            <a:ext cx="1879920" cy="546840"/>
          </a:xfrm>
          <a:prstGeom prst="rect">
            <a:avLst/>
          </a:prstGeom>
          <a:ln w="0">
            <a:noFill/>
          </a:ln>
        </p:spPr>
      </p:pic>
      <p:sp>
        <p:nvSpPr>
          <p:cNvPr id="1" name="CustomShape 1" hidden="1"/>
          <p:cNvSpPr/>
          <p:nvPr/>
        </p:nvSpPr>
        <p:spPr>
          <a:xfrm>
            <a:off x="2095560" y="5572080"/>
            <a:ext cx="2498040" cy="354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 name="CustomShape 3"/>
          <p:cNvSpPr/>
          <p:nvPr/>
        </p:nvSpPr>
        <p:spPr>
          <a:xfrm>
            <a:off x="0" y="3429000"/>
            <a:ext cx="12189960" cy="1978200"/>
          </a:xfrm>
          <a:prstGeom prst="rect">
            <a:avLst/>
          </a:prstGeom>
          <a:solidFill>
            <a:srgbClr val="023d6b"/>
          </a:solidFill>
          <a:ln>
            <a:solidFill>
              <a:srgbClr val="002d4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pic>
        <p:nvPicPr>
          <p:cNvPr id="3" name="Grafik 8" descr=""/>
          <p:cNvPicPr/>
          <p:nvPr/>
        </p:nvPicPr>
        <p:blipFill>
          <a:blip r:embed="rId3"/>
          <a:stretch/>
        </p:blipFill>
        <p:spPr>
          <a:xfrm>
            <a:off x="9938520" y="6005520"/>
            <a:ext cx="1879920" cy="546840"/>
          </a:xfrm>
          <a:prstGeom prst="rect">
            <a:avLst/>
          </a:prstGeom>
          <a:ln w="0">
            <a:noFill/>
          </a:ln>
        </p:spPr>
      </p:pic>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Grafik 12" descr=""/>
          <p:cNvPicPr/>
          <p:nvPr/>
        </p:nvPicPr>
        <p:blipFill>
          <a:blip r:embed="rId2"/>
          <a:stretch/>
        </p:blipFill>
        <p:spPr>
          <a:xfrm>
            <a:off x="9938520" y="6005520"/>
            <a:ext cx="1879920" cy="546840"/>
          </a:xfrm>
          <a:prstGeom prst="rect">
            <a:avLst/>
          </a:prstGeom>
          <a:ln w="0">
            <a:noFill/>
          </a:ln>
        </p:spPr>
      </p:pic>
      <p:sp>
        <p:nvSpPr>
          <p:cNvPr id="43" name="CustomShape 1"/>
          <p:cNvSpPr/>
          <p:nvPr/>
        </p:nvSpPr>
        <p:spPr>
          <a:xfrm>
            <a:off x="2095560" y="5572080"/>
            <a:ext cx="2498040" cy="354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4" name="CustomShape 6"/>
          <p:cNvSpPr/>
          <p:nvPr/>
        </p:nvSpPr>
        <p:spPr>
          <a:xfrm>
            <a:off x="237960" y="6286680"/>
            <a:ext cx="2498040" cy="354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3" name="Grafik 7" descr=""/>
          <p:cNvPicPr/>
          <p:nvPr/>
        </p:nvPicPr>
        <p:blipFill>
          <a:blip r:embed="rId2"/>
          <a:stretch/>
        </p:blipFill>
        <p:spPr>
          <a:xfrm>
            <a:off x="372240" y="6424920"/>
            <a:ext cx="2302200" cy="90000"/>
          </a:xfrm>
          <a:prstGeom prst="rect">
            <a:avLst/>
          </a:prstGeom>
          <a:ln w="0">
            <a:noFill/>
          </a:ln>
        </p:spPr>
      </p:pic>
      <p:sp>
        <p:nvSpPr>
          <p:cNvPr id="84" name="Rectangle 4"/>
          <p:cNvSpPr/>
          <p:nvPr/>
        </p:nvSpPr>
        <p:spPr>
          <a:xfrm>
            <a:off x="166680" y="6286680"/>
            <a:ext cx="2641680" cy="355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2400" spc="-1" strike="noStrike">
              <a:solidFill>
                <a:schemeClr val="lt1"/>
              </a:solidFill>
              <a:latin typeface="Arial"/>
              <a:ea typeface="DejaVu Sans"/>
            </a:endParaRPr>
          </a:p>
        </p:txBody>
      </p:sp>
      <p:sp>
        <p:nvSpPr>
          <p:cNvPr id="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2.wmf"/><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wmf"/><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slideLayout" Target="../slideLayouts/slideLayout1.xml"/><Relationship Id="rId8"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3.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5.wmf"/><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ebrains.eu/sign-up" TargetMode="External"/><Relationship Id="rId6" Type="http://schemas.openxmlformats.org/officeDocument/2006/relationships/image" Target="../media/image11.png"/><Relationship Id="rId7" Type="http://schemas.openxmlformats.org/officeDocument/2006/relationships/slideLayout" Target="../slideLayouts/slideLayout13.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5.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slideLayout" Target="../slideLayouts/slideLayout13.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5.wmf"/><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ebrains.eu/sign-up" TargetMode="External"/><Relationship Id="rId6" Type="http://schemas.openxmlformats.org/officeDocument/2006/relationships/image" Target="../media/image11.png"/><Relationship Id="rId7" Type="http://schemas.openxmlformats.org/officeDocument/2006/relationships/slideLayout" Target="../slideLayouts/slideLayout13.xml"/><Relationship Id="rId8"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hyperlink" Target="https://realpython.com/using-jupyterlab/" TargetMode="External"/><Relationship Id="rId3" Type="http://schemas.openxmlformats.org/officeDocument/2006/relationships/hyperlink" Target="https://realpython.com/using-jupyterlab/" TargetMode="External"/><Relationship Id="rId4" Type="http://schemas.openxmlformats.org/officeDocument/2006/relationships/image" Target="../media/image17.png"/><Relationship Id="rId5" Type="http://schemas.openxmlformats.org/officeDocument/2006/relationships/slideLayout" Target="../slideLayouts/slideLayout13.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hyperlink" Target="https://lab.ebrains.eu/" TargetMode="External"/><Relationship Id="rId3" Type="http://schemas.openxmlformats.org/officeDocument/2006/relationships/slideLayout" Target="../slideLayouts/slideLayout13.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6.png"/><Relationship Id="rId3" Type="http://schemas.openxmlformats.org/officeDocument/2006/relationships/slideLayout" Target="../slideLayouts/slideLayout1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6.png"/><Relationship Id="rId3" Type="http://schemas.openxmlformats.org/officeDocument/2006/relationships/slideLayout" Target="../slideLayouts/slideLayout13.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6.png"/><Relationship Id="rId3" Type="http://schemas.openxmlformats.org/officeDocument/2006/relationships/slideLayout" Target="../slideLayouts/slideLayout13.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https://nestml.readthedocs.io/" TargetMode="External"/><Relationship Id="rId2" Type="http://schemas.openxmlformats.org/officeDocument/2006/relationships/hyperlink" Target="https://spinnakermanchester.github.io/" TargetMode="External"/><Relationship Id="rId3" Type="http://schemas.openxmlformats.org/officeDocument/2006/relationships/hyperlink" Target="mailto:c.linssen@fz-juelich.de" TargetMode="External"/><Relationship Id="rId4" Type="http://schemas.openxmlformats.org/officeDocument/2006/relationships/hyperlink" Target="mailto:p.babu@fz-juelich.de" TargetMode="External"/><Relationship Id="rId5" Type="http://schemas.openxmlformats.org/officeDocument/2006/relationships/slideLayout" Target="../slideLayouts/slideLayout13.xml"/><Relationship Id="rId6"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TextShape 4"/>
          <p:cNvSpPr/>
          <p:nvPr/>
        </p:nvSpPr>
        <p:spPr>
          <a:xfrm>
            <a:off x="731880" y="3657600"/>
            <a:ext cx="11077200" cy="1078920"/>
          </a:xfrm>
          <a:prstGeom prst="rect">
            <a:avLst/>
          </a:prstGeom>
          <a:noFill/>
          <a:ln w="0">
            <a:noFill/>
          </a:ln>
        </p:spPr>
        <p:style>
          <a:lnRef idx="0"/>
          <a:fillRef idx="0"/>
          <a:effectRef idx="0"/>
          <a:fontRef idx="minor"/>
        </p:style>
        <p:txBody>
          <a:bodyPr lIns="0" rIns="0" tIns="0" bIns="0" anchor="t">
            <a:noAutofit/>
          </a:bodyPr>
          <a:p>
            <a:pPr>
              <a:lnSpc>
                <a:spcPct val="114000"/>
              </a:lnSpc>
            </a:pPr>
            <a:r>
              <a:rPr b="0" lang="en-US" sz="2400" spc="483" strike="noStrike" cap="all">
                <a:solidFill>
                  <a:srgbClr val="ffffff"/>
                </a:solidFill>
                <a:latin typeface="Gotham"/>
                <a:ea typeface="DejaVu Sans"/>
              </a:rPr>
              <a:t>Modeling and simulating neuron models from NESTML on neuromorphic hardware</a:t>
            </a:r>
            <a:endParaRPr b="0" lang="en-US" sz="2400" spc="-1" strike="noStrike">
              <a:solidFill>
                <a:srgbClr val="000000"/>
              </a:solidFill>
              <a:latin typeface="Arial"/>
            </a:endParaRPr>
          </a:p>
        </p:txBody>
      </p:sp>
      <p:sp>
        <p:nvSpPr>
          <p:cNvPr id="130" name="TextShape 6"/>
          <p:cNvSpPr/>
          <p:nvPr/>
        </p:nvSpPr>
        <p:spPr>
          <a:xfrm>
            <a:off x="9897120" y="6637680"/>
            <a:ext cx="1983240" cy="75240"/>
          </a:xfrm>
          <a:prstGeom prst="rect">
            <a:avLst/>
          </a:prstGeom>
          <a:blipFill rotWithShape="0">
            <a:blip r:embed="rId1"/>
            <a:srcRect/>
            <a:stretch/>
          </a:blipFill>
          <a:ln w="0">
            <a:noFill/>
          </a:ln>
        </p:spPr>
        <p:style>
          <a:lnRef idx="0"/>
          <a:fillRef idx="0"/>
          <a:effectRef idx="0"/>
          <a:fontRef idx="minor"/>
        </p:style>
        <p:txBody>
          <a:bodyPr lIns="0" rIns="0" tIns="0" bIns="0" anchor="t">
            <a:noAutofit/>
          </a:bodyPr>
          <a:p>
            <a:pPr algn="ctr">
              <a:lnSpc>
                <a:spcPct val="100000"/>
              </a:lnSpc>
            </a:pPr>
            <a:r>
              <a:rPr b="0" lang="en-US" sz="100" spc="-1" strike="noStrike">
                <a:solidFill>
                  <a:srgbClr val="ffffff"/>
                </a:solidFill>
                <a:latin typeface="Arial"/>
                <a:ea typeface="DejaVu Sans"/>
              </a:rPr>
              <a:t> </a:t>
            </a:r>
            <a:endParaRPr b="0" lang="en-US" sz="100" spc="-1" strike="noStrike">
              <a:solidFill>
                <a:srgbClr val="000000"/>
              </a:solidFill>
              <a:latin typeface="Arial"/>
            </a:endParaRPr>
          </a:p>
        </p:txBody>
      </p:sp>
      <p:pic>
        <p:nvPicPr>
          <p:cNvPr id="131" name="" descr=""/>
          <p:cNvPicPr/>
          <p:nvPr/>
        </p:nvPicPr>
        <p:blipFill>
          <a:blip r:embed="rId2"/>
          <a:srcRect l="13124" t="0" r="0" b="25795"/>
          <a:stretch/>
        </p:blipFill>
        <p:spPr>
          <a:xfrm>
            <a:off x="5594760" y="-1659600"/>
            <a:ext cx="10589400" cy="5086440"/>
          </a:xfrm>
          <a:prstGeom prst="rect">
            <a:avLst/>
          </a:prstGeom>
          <a:ln w="0">
            <a:noFill/>
          </a:ln>
        </p:spPr>
      </p:pic>
      <p:pic>
        <p:nvPicPr>
          <p:cNvPr id="132" name="" descr=""/>
          <p:cNvPicPr/>
          <p:nvPr/>
        </p:nvPicPr>
        <p:blipFill>
          <a:blip r:embed="rId3"/>
          <a:srcRect l="40851" t="2137" r="19953" b="44375"/>
          <a:stretch/>
        </p:blipFill>
        <p:spPr>
          <a:xfrm>
            <a:off x="-573480" y="-1829160"/>
            <a:ext cx="6287040" cy="5256000"/>
          </a:xfrm>
          <a:prstGeom prst="rect">
            <a:avLst/>
          </a:prstGeom>
          <a:ln w="0">
            <a:noFill/>
          </a:ln>
        </p:spPr>
      </p:pic>
      <p:sp>
        <p:nvSpPr>
          <p:cNvPr id="133" name="CustomShape 1"/>
          <p:cNvSpPr/>
          <p:nvPr/>
        </p:nvSpPr>
        <p:spPr>
          <a:xfrm>
            <a:off x="7416360" y="6278040"/>
            <a:ext cx="981720" cy="2725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 sz="600" spc="-1" strike="noStrike">
                <a:solidFill>
                  <a:srgbClr val="000000"/>
                </a:solidFill>
                <a:latin typeface="Trebuchet MS"/>
                <a:ea typeface="DejaVu Sans"/>
              </a:rPr>
              <a:t>Co-funded by </a:t>
            </a:r>
            <a:br>
              <a:rPr sz="1800"/>
            </a:br>
            <a:r>
              <a:rPr b="0" lang="en" sz="600" spc="-1" strike="noStrike">
                <a:solidFill>
                  <a:srgbClr val="000000"/>
                </a:solidFill>
                <a:latin typeface="Trebuchet MS"/>
                <a:ea typeface="DejaVu Sans"/>
              </a:rPr>
              <a:t>the European Union</a:t>
            </a:r>
            <a:endParaRPr b="0" lang="en-US" sz="600" spc="-1" strike="noStrike">
              <a:solidFill>
                <a:srgbClr val="000000"/>
              </a:solidFill>
              <a:latin typeface="Arial"/>
            </a:endParaRPr>
          </a:p>
        </p:txBody>
      </p:sp>
      <p:pic>
        <p:nvPicPr>
          <p:cNvPr id="134" name="Picture 11" descr=""/>
          <p:cNvPicPr/>
          <p:nvPr/>
        </p:nvPicPr>
        <p:blipFill>
          <a:blip r:embed="rId4"/>
          <a:stretch/>
        </p:blipFill>
        <p:spPr>
          <a:xfrm>
            <a:off x="8384760" y="6263280"/>
            <a:ext cx="450360" cy="299520"/>
          </a:xfrm>
          <a:prstGeom prst="rect">
            <a:avLst/>
          </a:prstGeom>
          <a:ln w="0">
            <a:noFill/>
          </a:ln>
        </p:spPr>
      </p:pic>
      <p:pic>
        <p:nvPicPr>
          <p:cNvPr id="135" name="Picture 12" descr=""/>
          <p:cNvPicPr/>
          <p:nvPr/>
        </p:nvPicPr>
        <p:blipFill>
          <a:blip r:embed="rId5"/>
          <a:stretch/>
        </p:blipFill>
        <p:spPr>
          <a:xfrm>
            <a:off x="7311600" y="6184800"/>
            <a:ext cx="308520" cy="308520"/>
          </a:xfrm>
          <a:prstGeom prst="rect">
            <a:avLst/>
          </a:prstGeom>
          <a:ln w="0">
            <a:noFill/>
          </a:ln>
        </p:spPr>
      </p:pic>
      <p:pic>
        <p:nvPicPr>
          <p:cNvPr id="136" name="" descr=""/>
          <p:cNvPicPr/>
          <p:nvPr/>
        </p:nvPicPr>
        <p:blipFill>
          <a:blip r:embed="rId6"/>
          <a:stretch/>
        </p:blipFill>
        <p:spPr>
          <a:xfrm>
            <a:off x="104760" y="5943600"/>
            <a:ext cx="6408360" cy="759240"/>
          </a:xfrm>
          <a:prstGeom prst="rect">
            <a:avLst/>
          </a:prstGeom>
          <a:ln w="0">
            <a:noFill/>
          </a:ln>
        </p:spPr>
      </p:pic>
      <p:sp>
        <p:nvSpPr>
          <p:cNvPr id="137" name="TextShape 13"/>
          <p:cNvSpPr/>
          <p:nvPr/>
        </p:nvSpPr>
        <p:spPr>
          <a:xfrm>
            <a:off x="731880" y="4821840"/>
            <a:ext cx="10725840" cy="357480"/>
          </a:xfrm>
          <a:prstGeom prst="rect">
            <a:avLst/>
          </a:prstGeom>
          <a:noFill/>
          <a:ln w="0">
            <a:noFill/>
          </a:ln>
        </p:spPr>
        <p:style>
          <a:lnRef idx="0"/>
          <a:fillRef idx="0"/>
          <a:effectRef idx="0"/>
          <a:fontRef idx="minor"/>
        </p:style>
        <p:txBody>
          <a:bodyPr lIns="0" rIns="0" tIns="0" bIns="0" anchor="t">
            <a:noAutofit/>
          </a:bodyPr>
          <a:p>
            <a:pPr>
              <a:lnSpc>
                <a:spcPct val="114000"/>
              </a:lnSpc>
              <a:spcAft>
                <a:spcPts val="601"/>
              </a:spcAft>
            </a:pPr>
            <a:r>
              <a:rPr b="0" lang="en" sz="1600" spc="41" strike="noStrike">
                <a:solidFill>
                  <a:srgbClr val="ffffff"/>
                </a:solidFill>
                <a:latin typeface="Open Sans"/>
                <a:ea typeface="DejaVu Sans"/>
              </a:rPr>
              <a:t>Charl Linssen &amp; Pooja Babu    |   NEST Conference 2026   |   ​June 16th, 2026</a:t>
            </a:r>
            <a:endParaRPr b="0" lang="en-US" sz="1600" spc="-1" strike="noStrike">
              <a:solidFill>
                <a:srgbClr val="000000"/>
              </a:solidFill>
              <a:latin typeface="Arial"/>
            </a:endParaRPr>
          </a:p>
          <a:p>
            <a:pPr>
              <a:lnSpc>
                <a:spcPct val="114000"/>
              </a:lnSpc>
              <a:spcAft>
                <a:spcPts val="601"/>
              </a:spcAft>
            </a:pPr>
            <a:endParaRPr b="0" lang="en-US" sz="1600" spc="-1" strike="noStrike">
              <a:solidFill>
                <a:srgbClr val="000000"/>
              </a:solidFill>
              <a:latin typeface="Arial"/>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8" name="" descr=""/>
          <p:cNvPicPr/>
          <p:nvPr/>
        </p:nvPicPr>
        <p:blipFill>
          <a:blip r:embed="rId1"/>
          <a:srcRect l="11177" t="0" r="0" b="13062"/>
          <a:stretch/>
        </p:blipFill>
        <p:spPr>
          <a:xfrm>
            <a:off x="10399680" y="2230560"/>
            <a:ext cx="1418040" cy="1387440"/>
          </a:xfrm>
          <a:prstGeom prst="rect">
            <a:avLst/>
          </a:prstGeom>
          <a:ln w="0">
            <a:noFill/>
          </a:ln>
        </p:spPr>
      </p:pic>
      <p:pic>
        <p:nvPicPr>
          <p:cNvPr id="139" name="" descr=""/>
          <p:cNvPicPr/>
          <p:nvPr/>
        </p:nvPicPr>
        <p:blipFill>
          <a:blip r:embed="rId2"/>
          <a:stretch/>
        </p:blipFill>
        <p:spPr>
          <a:xfrm>
            <a:off x="10413000" y="299880"/>
            <a:ext cx="1333080" cy="1359720"/>
          </a:xfrm>
          <a:prstGeom prst="rect">
            <a:avLst/>
          </a:prstGeom>
          <a:ln w="0">
            <a:noFill/>
          </a:ln>
        </p:spPr>
      </p:pic>
      <p:sp>
        <p:nvSpPr>
          <p:cNvPr id="140" name="TextShape 1"/>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5" strike="noStrike">
                <a:solidFill>
                  <a:srgbClr val="023d6b"/>
                </a:solidFill>
                <a:latin typeface="Arial"/>
                <a:ea typeface="DejaVu Sans"/>
              </a:rPr>
              <a:t>Welcome!</a:t>
            </a:r>
            <a:endParaRPr b="0" lang="en-US" sz="3200" spc="-1" strike="noStrike">
              <a:solidFill>
                <a:srgbClr val="000000"/>
              </a:solidFill>
              <a:latin typeface="Arial"/>
            </a:endParaRPr>
          </a:p>
        </p:txBody>
      </p:sp>
      <p:sp>
        <p:nvSpPr>
          <p:cNvPr id="141" name="TextShape 2"/>
          <p:cNvSpPr/>
          <p:nvPr/>
        </p:nvSpPr>
        <p:spPr>
          <a:xfrm>
            <a:off x="1371600" y="1498680"/>
            <a:ext cx="10285200" cy="617040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000000"/>
                </a:solidFill>
                <a:latin typeface="Open Sans"/>
                <a:ea typeface="Open Sans"/>
              </a:rPr>
              <a:t>T+00:00</a:t>
            </a:r>
            <a:r>
              <a:rPr b="0" lang="en-US" sz="1800" spc="-1" strike="noStrike">
                <a:solidFill>
                  <a:srgbClr val="000000"/>
                </a:solidFill>
                <a:latin typeface="Open Sans"/>
                <a:ea typeface="Open Sans"/>
              </a:rPr>
              <a:t>	</a:t>
            </a:r>
            <a:r>
              <a:rPr b="0" lang="en-US" sz="1800" spc="-1" strike="noStrike">
                <a:solidFill>
                  <a:srgbClr val="000000"/>
                </a:solidFill>
                <a:latin typeface="Open Sans"/>
                <a:ea typeface="Open Sans"/>
              </a:rPr>
              <a:t>	</a:t>
            </a:r>
            <a:r>
              <a:rPr b="0" lang="en-US" sz="1800" spc="-1" strike="noStrike">
                <a:solidFill>
                  <a:srgbClr val="4070a0"/>
                </a:solidFill>
                <a:latin typeface="Open Sans"/>
                <a:ea typeface="Open Sans"/>
              </a:rPr>
              <a:t>Tutorial overview and accounts setup</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000000"/>
                </a:solidFill>
                <a:latin typeface="Open Sans"/>
                <a:ea typeface="Open Sans"/>
              </a:rPr>
              <a:t>T+00:10</a:t>
            </a:r>
            <a:r>
              <a:rPr b="0" lang="en-US" sz="1800" spc="-1" strike="noStrike">
                <a:solidFill>
                  <a:srgbClr val="000000"/>
                </a:solidFill>
                <a:latin typeface="Open Sans"/>
                <a:ea typeface="Open Sans"/>
              </a:rPr>
              <a:t>	</a:t>
            </a:r>
            <a:r>
              <a:rPr b="0" lang="en-US" sz="1800" spc="-1" strike="noStrike">
                <a:solidFill>
                  <a:srgbClr val="000000"/>
                </a:solidFill>
                <a:latin typeface="Open Sans"/>
                <a:ea typeface="Open Sans"/>
              </a:rPr>
              <a:t>	</a:t>
            </a:r>
            <a:r>
              <a:rPr b="0" lang="en-US" sz="1800" spc="-1" strike="noStrike">
                <a:solidFill>
                  <a:srgbClr val="4070a0"/>
                </a:solidFill>
                <a:latin typeface="Open Sans"/>
                <a:ea typeface="Open Sans"/>
              </a:rPr>
              <a:t>Introduction to NESTML</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000000"/>
                </a:solidFill>
                <a:latin typeface="Open Sans"/>
                <a:ea typeface="Open Sans"/>
              </a:rPr>
              <a:t>T+00:20</a:t>
            </a:r>
            <a:r>
              <a:rPr b="0" lang="en-US" sz="1800" spc="-1" strike="noStrike">
                <a:solidFill>
                  <a:srgbClr val="000000"/>
                </a:solidFill>
                <a:latin typeface="Open Sans"/>
                <a:ea typeface="Open Sans"/>
              </a:rPr>
              <a:t>	</a:t>
            </a:r>
            <a:r>
              <a:rPr b="0" lang="en-US" sz="1800" spc="-1" strike="noStrike">
                <a:solidFill>
                  <a:srgbClr val="000000"/>
                </a:solidFill>
                <a:latin typeface="Open Sans"/>
                <a:ea typeface="Open Sans"/>
              </a:rPr>
              <a:t>	</a:t>
            </a:r>
            <a:r>
              <a:rPr b="0" lang="en-US" sz="1800" spc="-1" strike="noStrike">
                <a:solidFill>
                  <a:srgbClr val="4070a0"/>
                </a:solidFill>
                <a:latin typeface="Open Sans"/>
                <a:ea typeface="Open Sans"/>
              </a:rPr>
              <a:t>Hands-on part 1: Generating code</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000000"/>
                </a:solidFill>
                <a:latin typeface="Open Sans"/>
                <a:ea typeface="Open Sans"/>
              </a:rPr>
              <a:t>T+00:30</a:t>
            </a:r>
            <a:r>
              <a:rPr b="0" lang="en-US" sz="1800" spc="-1" strike="noStrike">
                <a:solidFill>
                  <a:srgbClr val="000000"/>
                </a:solidFill>
                <a:latin typeface="Open Sans"/>
                <a:ea typeface="Open Sans"/>
              </a:rPr>
              <a:t>	</a:t>
            </a:r>
            <a:r>
              <a:rPr b="0" lang="en-US" sz="1800" spc="-1" strike="noStrike">
                <a:solidFill>
                  <a:srgbClr val="000000"/>
                </a:solidFill>
                <a:latin typeface="Open Sans"/>
                <a:ea typeface="Open Sans"/>
              </a:rPr>
              <a:t>	</a:t>
            </a:r>
            <a:r>
              <a:rPr b="0" lang="en-US" sz="1800" spc="-1" strike="noStrike">
                <a:solidFill>
                  <a:srgbClr val="4070a0"/>
                </a:solidFill>
                <a:latin typeface="Open Sans"/>
                <a:ea typeface="Open Sans"/>
              </a:rPr>
              <a:t>Hands-on part 2: Single-neuron characterisation</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000000"/>
                </a:solidFill>
                <a:latin typeface="Open Sans"/>
                <a:ea typeface="Open Sans"/>
              </a:rPr>
              <a:t>T+00:40</a:t>
            </a:r>
            <a:r>
              <a:rPr b="0" lang="en-US" sz="1800" spc="-1" strike="noStrike">
                <a:solidFill>
                  <a:srgbClr val="000000"/>
                </a:solidFill>
                <a:latin typeface="Open Sans"/>
                <a:ea typeface="Open Sans"/>
              </a:rPr>
              <a:t>	</a:t>
            </a:r>
            <a:r>
              <a:rPr b="0" lang="en-US" sz="1800" spc="-1" strike="noStrike">
                <a:solidFill>
                  <a:srgbClr val="000000"/>
                </a:solidFill>
                <a:latin typeface="Open Sans"/>
                <a:ea typeface="Open Sans"/>
              </a:rPr>
              <a:t>	</a:t>
            </a:r>
            <a:r>
              <a:rPr b="0" lang="en-US" sz="1800" spc="-1" strike="noStrike">
                <a:solidFill>
                  <a:srgbClr val="4070a0"/>
                </a:solidFill>
                <a:latin typeface="Open Sans"/>
                <a:ea typeface="Open Sans"/>
              </a:rPr>
              <a:t>Hands-on part 3: Balanced network</a:t>
            </a:r>
            <a:endParaRPr b="0" lang="en-US" sz="1800" spc="-1" strike="noStrike">
              <a:solidFill>
                <a:srgbClr val="000000"/>
              </a:solidFill>
              <a:latin typeface="Arial"/>
            </a:endParaRPr>
          </a:p>
          <a:p>
            <a:pPr marL="181080">
              <a:lnSpc>
                <a:spcPct val="114000"/>
              </a:lnSpc>
              <a:spcBef>
                <a:spcPts val="601"/>
              </a:spcBef>
              <a:spcAft>
                <a:spcPts val="601"/>
              </a:spcAft>
            </a:pPr>
            <a:endParaRPr b="0" lang="en-US" sz="1400" spc="-1" strike="noStrike">
              <a:solidFill>
                <a:srgbClr val="000000"/>
              </a:solidFill>
              <a:latin typeface="Arial"/>
            </a:endParaRPr>
          </a:p>
          <a:p>
            <a:pPr marL="181080">
              <a:lnSpc>
                <a:spcPct val="114000"/>
              </a:lnSpc>
              <a:spcBef>
                <a:spcPts val="601"/>
              </a:spcBef>
              <a:spcAft>
                <a:spcPts val="601"/>
              </a:spcAft>
            </a:pPr>
            <a:endParaRPr b="0" lang="en-US" sz="1400" spc="-1" strike="noStrike">
              <a:solidFill>
                <a:srgbClr val="000000"/>
              </a:solidFill>
              <a:latin typeface="Arial"/>
            </a:endParaRPr>
          </a:p>
        </p:txBody>
      </p:sp>
      <p:sp>
        <p:nvSpPr>
          <p:cNvPr id="142" name="CustomShape 3"/>
          <p:cNvSpPr/>
          <p:nvPr/>
        </p:nvSpPr>
        <p:spPr>
          <a:xfrm>
            <a:off x="8635680" y="7718400"/>
            <a:ext cx="140760" cy="783720"/>
          </a:xfrm>
          <a:prstGeom prst="rect">
            <a:avLst/>
          </a:prstGeom>
          <a:solidFill>
            <a:srgbClr val="4070a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3" name="CustomShape 4"/>
          <p:cNvSpPr/>
          <p:nvPr/>
        </p:nvSpPr>
        <p:spPr>
          <a:xfrm>
            <a:off x="5983920" y="7992720"/>
            <a:ext cx="140760" cy="78372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4" name="CustomShape 5"/>
          <p:cNvSpPr/>
          <p:nvPr/>
        </p:nvSpPr>
        <p:spPr>
          <a:xfrm>
            <a:off x="3058200" y="1575720"/>
            <a:ext cx="140760" cy="673920"/>
          </a:xfrm>
          <a:prstGeom prst="rect">
            <a:avLst/>
          </a:prstGeom>
          <a:solidFill>
            <a:srgbClr val="4070a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5" name="CustomShape 6"/>
          <p:cNvSpPr/>
          <p:nvPr/>
        </p:nvSpPr>
        <p:spPr>
          <a:xfrm>
            <a:off x="3046320" y="2514600"/>
            <a:ext cx="152640" cy="114156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6" name="CustomShape 7"/>
          <p:cNvSpPr/>
          <p:nvPr/>
        </p:nvSpPr>
        <p:spPr>
          <a:xfrm>
            <a:off x="7446960" y="7830000"/>
            <a:ext cx="140760" cy="85500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7" name=""/>
          <p:cNvSpPr/>
          <p:nvPr/>
        </p:nvSpPr>
        <p:spPr>
          <a:xfrm>
            <a:off x="10220400" y="126000"/>
            <a:ext cx="1702800" cy="1702800"/>
          </a:xfrm>
          <a:prstGeom prst="ellipse">
            <a:avLst/>
          </a:prstGeom>
          <a:noFill/>
          <a:ln w="457200">
            <a:solidFill>
              <a:srgbClr val="ffffff"/>
            </a:solidFill>
            <a:round/>
          </a:ln>
        </p:spPr>
        <p:style>
          <a:lnRef idx="0"/>
          <a:fillRef idx="0"/>
          <a:effectRef idx="0"/>
          <a:fontRef idx="minor"/>
        </p:style>
        <p:txBody>
          <a:bodyPr lIns="318600" rIns="318600" tIns="273600" bIns="273600" anchor="ctr">
            <a:noAutofit/>
          </a:bodyPr>
          <a:p>
            <a:endParaRPr b="0" lang="en-US" sz="1800" spc="-1" strike="noStrike">
              <a:solidFill>
                <a:srgbClr val="000000"/>
              </a:solidFill>
              <a:latin typeface="Arial"/>
              <a:ea typeface="DejaVu Sans"/>
            </a:endParaRPr>
          </a:p>
        </p:txBody>
      </p:sp>
      <p:sp>
        <p:nvSpPr>
          <p:cNvPr id="148" name=""/>
          <p:cNvSpPr/>
          <p:nvPr/>
        </p:nvSpPr>
        <p:spPr>
          <a:xfrm>
            <a:off x="10220760" y="2106000"/>
            <a:ext cx="1702800" cy="1702800"/>
          </a:xfrm>
          <a:prstGeom prst="ellipse">
            <a:avLst/>
          </a:prstGeom>
          <a:noFill/>
          <a:ln w="457200">
            <a:solidFill>
              <a:srgbClr val="ffffff"/>
            </a:solidFill>
            <a:round/>
          </a:ln>
        </p:spPr>
        <p:style>
          <a:lnRef idx="0"/>
          <a:fillRef idx="0"/>
          <a:effectRef idx="0"/>
          <a:fontRef idx="minor"/>
        </p:style>
        <p:txBody>
          <a:bodyPr lIns="318600" rIns="318600" tIns="273600" bIns="273600" anchor="ctr">
            <a:noAutofit/>
          </a:bodyPr>
          <a:p>
            <a:endParaRPr b="0" lang="en-US" sz="1800" spc="-1" strike="noStrike">
              <a:solidFill>
                <a:srgbClr val="000000"/>
              </a:solidFill>
              <a:latin typeface="Arial"/>
              <a:ea typeface="DejaVu Sans"/>
            </a:endParaRPr>
          </a:p>
        </p:txBody>
      </p:sp>
      <p:sp>
        <p:nvSpPr>
          <p:cNvPr id="149" name=""/>
          <p:cNvSpPr/>
          <p:nvPr/>
        </p:nvSpPr>
        <p:spPr>
          <a:xfrm>
            <a:off x="10347480" y="3737160"/>
            <a:ext cx="2424600" cy="1001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Pooja N. Babu</a:t>
            </a:r>
            <a:endParaRPr b="0" lang="en-US" sz="1600" spc="-1" strike="noStrike">
              <a:solidFill>
                <a:srgbClr val="000000"/>
              </a:solidFill>
              <a:latin typeface="Arial"/>
            </a:endParaRPr>
          </a:p>
        </p:txBody>
      </p:sp>
      <p:sp>
        <p:nvSpPr>
          <p:cNvPr id="150" name=""/>
          <p:cNvSpPr/>
          <p:nvPr/>
        </p:nvSpPr>
        <p:spPr>
          <a:xfrm>
            <a:off x="10357200" y="1730880"/>
            <a:ext cx="2424600" cy="1001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Charl Linssen</a:t>
            </a:r>
            <a:endParaRPr b="0" lang="en-US" sz="1600" spc="-1" strike="noStrike">
              <a:solidFill>
                <a:srgbClr val="000000"/>
              </a:solidFill>
              <a:latin typeface="Arial"/>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TextShape 23"/>
          <p:cNvSpPr/>
          <p:nvPr/>
        </p:nvSpPr>
        <p:spPr>
          <a:xfrm>
            <a:off x="613800" y="1371600"/>
            <a:ext cx="5179680" cy="472248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EBRAINS is an integrated digital brain research and simulation platform. It provides cloud computing services for free.</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To run the software used in this tutorial on EBRAINS, please create an account at:</a:t>
            </a: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p:txBody>
      </p:sp>
      <p:sp>
        <p:nvSpPr>
          <p:cNvPr id="152" name="TextShape 24"/>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2" strike="noStrike">
                <a:solidFill>
                  <a:srgbClr val="023d6b"/>
                </a:solidFill>
                <a:latin typeface="Arial"/>
                <a:ea typeface="DejaVu Sans"/>
              </a:rPr>
              <a:t>Prerequisites: access SpiNNaker via </a:t>
            </a:r>
            <a:r>
              <a:rPr b="1" lang="en-US" sz="3200" spc="185" strike="noStrike">
                <a:solidFill>
                  <a:srgbClr val="023d6b"/>
                </a:solidFill>
                <a:latin typeface="Arial"/>
                <a:ea typeface="DejaVu Sans"/>
              </a:rPr>
              <a:t>EBRAINS</a:t>
            </a:r>
            <a:endParaRPr b="0" lang="en-US" sz="3200" spc="-1" strike="noStrike">
              <a:solidFill>
                <a:srgbClr val="000000"/>
              </a:solidFill>
              <a:latin typeface="Arial"/>
            </a:endParaRPr>
          </a:p>
        </p:txBody>
      </p:sp>
      <p:pic>
        <p:nvPicPr>
          <p:cNvPr id="153" name="" descr=""/>
          <p:cNvPicPr/>
          <p:nvPr/>
        </p:nvPicPr>
        <p:blipFill>
          <a:blip r:embed="rId1"/>
          <a:stretch/>
        </p:blipFill>
        <p:spPr>
          <a:xfrm>
            <a:off x="6521400" y="1371600"/>
            <a:ext cx="5164560" cy="3427920"/>
          </a:xfrm>
          <a:prstGeom prst="rect">
            <a:avLst/>
          </a:prstGeom>
          <a:ln w="0">
            <a:noFill/>
          </a:ln>
        </p:spPr>
      </p:pic>
      <p:sp>
        <p:nvSpPr>
          <p:cNvPr id="154" name="CustomShape 8"/>
          <p:cNvSpPr/>
          <p:nvPr/>
        </p:nvSpPr>
        <p:spPr>
          <a:xfrm>
            <a:off x="1949040" y="5510520"/>
            <a:ext cx="1718640" cy="4093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 sz="1050" spc="-1" strike="noStrike">
                <a:solidFill>
                  <a:srgbClr val="000000"/>
                </a:solidFill>
                <a:latin typeface="Trebuchet MS"/>
                <a:ea typeface="DejaVu Sans"/>
              </a:rPr>
              <a:t>Co-funded by </a:t>
            </a:r>
            <a:br>
              <a:rPr sz="1050"/>
            </a:br>
            <a:r>
              <a:rPr b="0" lang="en" sz="1050" spc="-1" strike="noStrike">
                <a:solidFill>
                  <a:srgbClr val="000000"/>
                </a:solidFill>
                <a:latin typeface="Trebuchet MS"/>
                <a:ea typeface="DejaVu Sans"/>
              </a:rPr>
              <a:t>the European Union</a:t>
            </a:r>
            <a:endParaRPr b="0" lang="en-US" sz="1050" spc="-1" strike="noStrike">
              <a:solidFill>
                <a:srgbClr val="000000"/>
              </a:solidFill>
              <a:latin typeface="Arial"/>
            </a:endParaRPr>
          </a:p>
        </p:txBody>
      </p:sp>
      <p:pic>
        <p:nvPicPr>
          <p:cNvPr id="155" name="Picture 4" descr=""/>
          <p:cNvPicPr/>
          <p:nvPr/>
        </p:nvPicPr>
        <p:blipFill>
          <a:blip r:embed="rId2"/>
          <a:stretch/>
        </p:blipFill>
        <p:spPr>
          <a:xfrm>
            <a:off x="3643560" y="5484600"/>
            <a:ext cx="788760" cy="524880"/>
          </a:xfrm>
          <a:prstGeom prst="rect">
            <a:avLst/>
          </a:prstGeom>
          <a:ln w="0">
            <a:noFill/>
          </a:ln>
        </p:spPr>
      </p:pic>
      <p:pic>
        <p:nvPicPr>
          <p:cNvPr id="156" name="Picture 5" descr=""/>
          <p:cNvPicPr/>
          <p:nvPr/>
        </p:nvPicPr>
        <p:blipFill>
          <a:blip r:embed="rId3"/>
          <a:stretch/>
        </p:blipFill>
        <p:spPr>
          <a:xfrm>
            <a:off x="1834200" y="5497920"/>
            <a:ext cx="540720" cy="540720"/>
          </a:xfrm>
          <a:prstGeom prst="rect">
            <a:avLst/>
          </a:prstGeom>
          <a:ln w="0">
            <a:noFill/>
          </a:ln>
        </p:spPr>
      </p:pic>
      <p:pic>
        <p:nvPicPr>
          <p:cNvPr id="157" name="" descr=""/>
          <p:cNvPicPr/>
          <p:nvPr/>
        </p:nvPicPr>
        <p:blipFill>
          <a:blip r:embed="rId4"/>
          <a:srcRect l="62563" t="0" r="0" b="0"/>
          <a:stretch/>
        </p:blipFill>
        <p:spPr>
          <a:xfrm>
            <a:off x="785160" y="3970800"/>
            <a:ext cx="4327560" cy="1370520"/>
          </a:xfrm>
          <a:prstGeom prst="rect">
            <a:avLst/>
          </a:prstGeom>
          <a:ln w="0">
            <a:noFill/>
          </a:ln>
        </p:spPr>
      </p:pic>
      <p:sp>
        <p:nvSpPr>
          <p:cNvPr id="158" name=""/>
          <p:cNvSpPr/>
          <p:nvPr/>
        </p:nvSpPr>
        <p:spPr>
          <a:xfrm>
            <a:off x="718200" y="3329280"/>
            <a:ext cx="295020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u="sng">
                <a:solidFill>
                  <a:srgbClr val="000000"/>
                </a:solidFill>
                <a:uFillTx/>
                <a:latin typeface="Open Sans"/>
                <a:ea typeface="Open Sans"/>
                <a:hlinkClick r:id="rId5"/>
              </a:rPr>
              <a:t>https://ebrains.eu/sign-up</a:t>
            </a:r>
            <a:endParaRPr b="0" lang="en-US" sz="1800" spc="-1" strike="noStrike">
              <a:solidFill>
                <a:srgbClr val="000000"/>
              </a:solidFill>
              <a:latin typeface="Arial"/>
            </a:endParaRPr>
          </a:p>
        </p:txBody>
      </p:sp>
      <p:pic>
        <p:nvPicPr>
          <p:cNvPr id="159" name="" descr=""/>
          <p:cNvPicPr/>
          <p:nvPr/>
        </p:nvPicPr>
        <p:blipFill>
          <a:blip r:embed="rId6"/>
          <a:stretch/>
        </p:blipFill>
        <p:spPr>
          <a:xfrm>
            <a:off x="5451120" y="3782160"/>
            <a:ext cx="3007080" cy="2950560"/>
          </a:xfrm>
          <a:prstGeom prst="rect">
            <a:avLst/>
          </a:prstGeom>
          <a:ln w="0">
            <a:noFill/>
          </a:ln>
        </p:spPr>
      </p:pic>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Shape 96"/>
          <p:cNvSpPr/>
          <p:nvPr/>
        </p:nvSpPr>
        <p:spPr>
          <a:xfrm>
            <a:off x="-47520" y="6547680"/>
            <a:ext cx="4403520" cy="451800"/>
          </a:xfrm>
          <a:prstGeom prst="rect">
            <a:avLst/>
          </a:prstGeom>
          <a:noFill/>
          <a:ln w="0">
            <a:noFill/>
          </a:ln>
        </p:spPr>
        <p:style>
          <a:lnRef idx="0"/>
          <a:fillRef idx="0"/>
          <a:effectRef idx="0"/>
          <a:fontRef idx="minor"/>
        </p:style>
        <p:txBody>
          <a:bodyPr lIns="90000" rIns="90000" tIns="91440" bIns="91440" anchor="t">
            <a:noAutofit/>
          </a:bodyPr>
          <a:p>
            <a:pPr marL="228600" indent="-228600">
              <a:lnSpc>
                <a:spcPct val="114000"/>
              </a:lnSpc>
              <a:spcAft>
                <a:spcPts val="601"/>
              </a:spcAft>
              <a:tabLst>
                <a:tab algn="l" pos="0"/>
              </a:tabLst>
            </a:pPr>
            <a:r>
              <a:rPr b="0" i="1" lang="en-US" sz="1000" spc="-1" strike="noStrike">
                <a:solidFill>
                  <a:srgbClr val="999999"/>
                </a:solidFill>
                <a:latin typeface="Arial"/>
                <a:ea typeface="DejaVu Sans"/>
              </a:rPr>
              <a:t>Schuman et al. 2022</a:t>
            </a:r>
            <a:endParaRPr b="0" lang="en-US" sz="1000" spc="-1" strike="noStrike">
              <a:solidFill>
                <a:srgbClr val="000000"/>
              </a:solidFill>
              <a:latin typeface="Arial"/>
            </a:endParaRPr>
          </a:p>
        </p:txBody>
      </p:sp>
      <p:sp>
        <p:nvSpPr>
          <p:cNvPr id="161" name="AutoShape 2"/>
          <p:cNvSpPr/>
          <p:nvPr/>
        </p:nvSpPr>
        <p:spPr>
          <a:xfrm>
            <a:off x="155520" y="-144360"/>
            <a:ext cx="303480" cy="3034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2" name="AutoShape 4"/>
          <p:cNvSpPr/>
          <p:nvPr/>
        </p:nvSpPr>
        <p:spPr>
          <a:xfrm>
            <a:off x="155520" y="-144360"/>
            <a:ext cx="303480" cy="3034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3" name="AutoShape 6"/>
          <p:cNvSpPr/>
          <p:nvPr/>
        </p:nvSpPr>
        <p:spPr>
          <a:xfrm>
            <a:off x="155520" y="-144360"/>
            <a:ext cx="303480" cy="3034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4" name="AutoShape 8"/>
          <p:cNvSpPr/>
          <p:nvPr/>
        </p:nvSpPr>
        <p:spPr>
          <a:xfrm>
            <a:off x="155520" y="-144360"/>
            <a:ext cx="303480" cy="3034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5" name="AutoShape 10"/>
          <p:cNvSpPr/>
          <p:nvPr/>
        </p:nvSpPr>
        <p:spPr>
          <a:xfrm>
            <a:off x="155520" y="-2430360"/>
            <a:ext cx="14124240" cy="50752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166" name="Picture 3" descr="43588_2021_184_Fig1_HTML.png"/>
          <p:cNvPicPr/>
          <p:nvPr/>
        </p:nvPicPr>
        <p:blipFill>
          <a:blip r:embed="rId1"/>
          <a:stretch/>
        </p:blipFill>
        <p:spPr>
          <a:xfrm>
            <a:off x="500040" y="1752480"/>
            <a:ext cx="11023920" cy="3961080"/>
          </a:xfrm>
          <a:prstGeom prst="rect">
            <a:avLst/>
          </a:prstGeom>
          <a:ln w="0">
            <a:noFill/>
          </a:ln>
        </p:spPr>
      </p:pic>
      <p:sp>
        <p:nvSpPr>
          <p:cNvPr id="167" name="TextShape 35"/>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5" strike="noStrike">
                <a:solidFill>
                  <a:srgbClr val="023d6b"/>
                </a:solidFill>
                <a:latin typeface="Arial"/>
                <a:ea typeface="DejaVu Sans"/>
              </a:rPr>
              <a:t>Introduction to neuromorphic computing</a:t>
            </a:r>
            <a:endParaRPr b="0" lang="en-US" sz="3200" spc="-1" strike="noStrike">
              <a:solidFill>
                <a:srgbClr val="000000"/>
              </a:solidFill>
              <a:latin typeface="Arial"/>
            </a:endParaRPr>
          </a:p>
        </p:txBody>
      </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TextShape 8"/>
          <p:cNvSpPr/>
          <p:nvPr/>
        </p:nvSpPr>
        <p:spPr>
          <a:xfrm>
            <a:off x="505800" y="1371600"/>
            <a:ext cx="5179680" cy="472248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SpiNNaker is a neuromorphic computing system designed to simulate large-scale spiking neural networks in real-time. </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It features a massively parallel architecture comprising up to a million 32-bit ARM9 cores, interconnected through a toroidally wired, packet-based communication network, achieving high-speed, low-latency interprocessor communication.</a:t>
            </a:r>
            <a:endParaRPr b="0" lang="en-US" sz="1800" spc="-1" strike="noStrike">
              <a:solidFill>
                <a:srgbClr val="000000"/>
              </a:solidFill>
              <a:latin typeface="Arial"/>
            </a:endParaRPr>
          </a:p>
        </p:txBody>
      </p:sp>
      <p:sp>
        <p:nvSpPr>
          <p:cNvPr id="169" name="TextShape 5"/>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5" strike="noStrike">
                <a:solidFill>
                  <a:srgbClr val="023d6b"/>
                </a:solidFill>
                <a:latin typeface="Arial"/>
                <a:ea typeface="DejaVu Sans"/>
              </a:rPr>
              <a:t>Introduction to SpiNNaker</a:t>
            </a:r>
            <a:endParaRPr b="0" lang="en-US" sz="3200" spc="-1" strike="noStrike">
              <a:solidFill>
                <a:srgbClr val="000000"/>
              </a:solidFill>
              <a:latin typeface="Arial"/>
            </a:endParaRPr>
          </a:p>
        </p:txBody>
      </p:sp>
      <p:pic>
        <p:nvPicPr>
          <p:cNvPr id="170" name="" descr=""/>
          <p:cNvPicPr/>
          <p:nvPr/>
        </p:nvPicPr>
        <p:blipFill>
          <a:blip r:embed="rId1"/>
          <a:stretch/>
        </p:blipFill>
        <p:spPr>
          <a:xfrm>
            <a:off x="6834600" y="770040"/>
            <a:ext cx="5027760" cy="3201480"/>
          </a:xfrm>
          <a:prstGeom prst="rect">
            <a:avLst/>
          </a:prstGeom>
          <a:ln w="0">
            <a:noFill/>
          </a:ln>
        </p:spPr>
      </p:pic>
      <p:pic>
        <p:nvPicPr>
          <p:cNvPr id="171" name="" descr=""/>
          <p:cNvPicPr/>
          <p:nvPr/>
        </p:nvPicPr>
        <p:blipFill>
          <a:blip r:embed="rId2"/>
          <a:stretch/>
        </p:blipFill>
        <p:spPr>
          <a:xfrm>
            <a:off x="5614920" y="3355560"/>
            <a:ext cx="3089880" cy="2284200"/>
          </a:xfrm>
          <a:prstGeom prst="rect">
            <a:avLst/>
          </a:prstGeom>
          <a:ln w="0">
            <a:noFill/>
          </a:ln>
        </p:spPr>
      </p:pic>
      <p:pic>
        <p:nvPicPr>
          <p:cNvPr id="172" name="" descr=""/>
          <p:cNvPicPr/>
          <p:nvPr/>
        </p:nvPicPr>
        <p:blipFill>
          <a:blip r:embed="rId3"/>
          <a:stretch/>
        </p:blipFill>
        <p:spPr>
          <a:xfrm>
            <a:off x="9575640" y="4052520"/>
            <a:ext cx="1829880" cy="1648800"/>
          </a:xfrm>
          <a:prstGeom prst="rect">
            <a:avLst/>
          </a:prstGeom>
          <a:ln w="0">
            <a:noFill/>
          </a:ln>
        </p:spPr>
      </p:pic>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Shape 10"/>
          <p:cNvSpPr/>
          <p:nvPr/>
        </p:nvSpPr>
        <p:spPr>
          <a:xfrm>
            <a:off x="613800" y="1371600"/>
            <a:ext cx="5179680" cy="472248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EBRAINS is an integrated digital brain research and simulation platform. It provides cloud computing services for free.</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To run the software used in this tutorial on EBRAINS, please create an account at:</a:t>
            </a: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p:txBody>
      </p:sp>
      <p:sp>
        <p:nvSpPr>
          <p:cNvPr id="174" name="TextShape 11"/>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2" strike="noStrike">
                <a:solidFill>
                  <a:srgbClr val="023d6b"/>
                </a:solidFill>
                <a:latin typeface="Arial"/>
                <a:ea typeface="DejaVu Sans"/>
              </a:rPr>
              <a:t>Accessing SpiNNaker via </a:t>
            </a:r>
            <a:r>
              <a:rPr b="1" lang="en-US" sz="3200" spc="185" strike="noStrike">
                <a:solidFill>
                  <a:srgbClr val="023d6b"/>
                </a:solidFill>
                <a:latin typeface="Arial"/>
                <a:ea typeface="DejaVu Sans"/>
              </a:rPr>
              <a:t>EBRAINS</a:t>
            </a:r>
            <a:endParaRPr b="0" lang="en-US" sz="3200" spc="-1" strike="noStrike">
              <a:solidFill>
                <a:srgbClr val="000000"/>
              </a:solidFill>
              <a:latin typeface="Arial"/>
            </a:endParaRPr>
          </a:p>
        </p:txBody>
      </p:sp>
      <p:pic>
        <p:nvPicPr>
          <p:cNvPr id="175" name="" descr=""/>
          <p:cNvPicPr/>
          <p:nvPr/>
        </p:nvPicPr>
        <p:blipFill>
          <a:blip r:embed="rId1"/>
          <a:stretch/>
        </p:blipFill>
        <p:spPr>
          <a:xfrm>
            <a:off x="6521400" y="1371600"/>
            <a:ext cx="5164560" cy="3427920"/>
          </a:xfrm>
          <a:prstGeom prst="rect">
            <a:avLst/>
          </a:prstGeom>
          <a:ln w="0">
            <a:noFill/>
          </a:ln>
        </p:spPr>
      </p:pic>
      <p:sp>
        <p:nvSpPr>
          <p:cNvPr id="176" name="CustomShape 2"/>
          <p:cNvSpPr/>
          <p:nvPr/>
        </p:nvSpPr>
        <p:spPr>
          <a:xfrm>
            <a:off x="1949040" y="5510520"/>
            <a:ext cx="1718640" cy="4093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 sz="1050" spc="-1" strike="noStrike">
                <a:solidFill>
                  <a:srgbClr val="000000"/>
                </a:solidFill>
                <a:latin typeface="Trebuchet MS"/>
                <a:ea typeface="DejaVu Sans"/>
              </a:rPr>
              <a:t>Co-funded by </a:t>
            </a:r>
            <a:br>
              <a:rPr sz="1050"/>
            </a:br>
            <a:r>
              <a:rPr b="0" lang="en" sz="1050" spc="-1" strike="noStrike">
                <a:solidFill>
                  <a:srgbClr val="000000"/>
                </a:solidFill>
                <a:latin typeface="Trebuchet MS"/>
                <a:ea typeface="DejaVu Sans"/>
              </a:rPr>
              <a:t>the European Union</a:t>
            </a:r>
            <a:endParaRPr b="0" lang="en-US" sz="1050" spc="-1" strike="noStrike">
              <a:solidFill>
                <a:srgbClr val="000000"/>
              </a:solidFill>
              <a:latin typeface="Arial"/>
            </a:endParaRPr>
          </a:p>
        </p:txBody>
      </p:sp>
      <p:pic>
        <p:nvPicPr>
          <p:cNvPr id="177" name="Picture 1" descr=""/>
          <p:cNvPicPr/>
          <p:nvPr/>
        </p:nvPicPr>
        <p:blipFill>
          <a:blip r:embed="rId2"/>
          <a:stretch/>
        </p:blipFill>
        <p:spPr>
          <a:xfrm>
            <a:off x="3643560" y="5484600"/>
            <a:ext cx="788760" cy="524880"/>
          </a:xfrm>
          <a:prstGeom prst="rect">
            <a:avLst/>
          </a:prstGeom>
          <a:ln w="0">
            <a:noFill/>
          </a:ln>
        </p:spPr>
      </p:pic>
      <p:pic>
        <p:nvPicPr>
          <p:cNvPr id="178" name="Picture 2" descr=""/>
          <p:cNvPicPr/>
          <p:nvPr/>
        </p:nvPicPr>
        <p:blipFill>
          <a:blip r:embed="rId3"/>
          <a:stretch/>
        </p:blipFill>
        <p:spPr>
          <a:xfrm>
            <a:off x="1834200" y="5497920"/>
            <a:ext cx="540720" cy="540720"/>
          </a:xfrm>
          <a:prstGeom prst="rect">
            <a:avLst/>
          </a:prstGeom>
          <a:ln w="0">
            <a:noFill/>
          </a:ln>
        </p:spPr>
      </p:pic>
      <p:pic>
        <p:nvPicPr>
          <p:cNvPr id="179" name="" descr=""/>
          <p:cNvPicPr/>
          <p:nvPr/>
        </p:nvPicPr>
        <p:blipFill>
          <a:blip r:embed="rId4"/>
          <a:srcRect l="62563" t="0" r="0" b="0"/>
          <a:stretch/>
        </p:blipFill>
        <p:spPr>
          <a:xfrm>
            <a:off x="785160" y="3970800"/>
            <a:ext cx="4327560" cy="1370520"/>
          </a:xfrm>
          <a:prstGeom prst="rect">
            <a:avLst/>
          </a:prstGeom>
          <a:ln w="0">
            <a:noFill/>
          </a:ln>
        </p:spPr>
      </p:pic>
      <p:sp>
        <p:nvSpPr>
          <p:cNvPr id="180" name=""/>
          <p:cNvSpPr/>
          <p:nvPr/>
        </p:nvSpPr>
        <p:spPr>
          <a:xfrm>
            <a:off x="718200" y="3329280"/>
            <a:ext cx="295020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u="sng">
                <a:solidFill>
                  <a:srgbClr val="000000"/>
                </a:solidFill>
                <a:uFillTx/>
                <a:latin typeface="Open Sans"/>
                <a:ea typeface="Open Sans"/>
                <a:hlinkClick r:id="rId5"/>
              </a:rPr>
              <a:t>https://ebrains.eu/sign-up</a:t>
            </a:r>
            <a:endParaRPr b="0" lang="en-US" sz="1800" spc="-1" strike="noStrike">
              <a:solidFill>
                <a:srgbClr val="000000"/>
              </a:solidFill>
              <a:latin typeface="Arial"/>
            </a:endParaRPr>
          </a:p>
        </p:txBody>
      </p:sp>
      <p:pic>
        <p:nvPicPr>
          <p:cNvPr id="181" name="" descr=""/>
          <p:cNvPicPr/>
          <p:nvPr/>
        </p:nvPicPr>
        <p:blipFill>
          <a:blip r:embed="rId6"/>
          <a:stretch/>
        </p:blipFill>
        <p:spPr>
          <a:xfrm>
            <a:off x="5451480" y="3782160"/>
            <a:ext cx="3007080" cy="2950560"/>
          </a:xfrm>
          <a:prstGeom prst="rect">
            <a:avLst/>
          </a:prstGeom>
          <a:ln w="0">
            <a:noFill/>
          </a:ln>
        </p:spPr>
      </p:pic>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2" name="" descr=""/>
          <p:cNvPicPr/>
          <p:nvPr/>
        </p:nvPicPr>
        <p:blipFill>
          <a:blip r:embed="rId1"/>
          <a:stretch/>
        </p:blipFill>
        <p:spPr>
          <a:xfrm>
            <a:off x="1263600" y="3340440"/>
            <a:ext cx="455400" cy="349920"/>
          </a:xfrm>
          <a:prstGeom prst="rect">
            <a:avLst/>
          </a:prstGeom>
          <a:ln w="0">
            <a:noFill/>
          </a:ln>
        </p:spPr>
      </p:pic>
      <p:sp>
        <p:nvSpPr>
          <p:cNvPr id="183" name="TextShape 14"/>
          <p:cNvSpPr/>
          <p:nvPr/>
        </p:nvSpPr>
        <p:spPr>
          <a:xfrm>
            <a:off x="371520" y="252000"/>
            <a:ext cx="11446560" cy="112212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2" strike="noStrike">
                <a:solidFill>
                  <a:srgbClr val="023d6b"/>
                </a:solidFill>
                <a:latin typeface="Arial"/>
                <a:ea typeface="DejaVu Sans"/>
              </a:rPr>
              <a:t>Python programming and JupyterLab</a:t>
            </a:r>
            <a:endParaRPr b="0" lang="en-US" sz="3200" spc="-1" strike="noStrike">
              <a:solidFill>
                <a:srgbClr val="000000"/>
              </a:solidFill>
              <a:latin typeface="Arial"/>
            </a:endParaRPr>
          </a:p>
        </p:txBody>
      </p:sp>
      <p:sp>
        <p:nvSpPr>
          <p:cNvPr id="184" name="TextShape 15"/>
          <p:cNvSpPr/>
          <p:nvPr/>
        </p:nvSpPr>
        <p:spPr>
          <a:xfrm>
            <a:off x="268920" y="1290960"/>
            <a:ext cx="4301280" cy="566712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JupyterLab is an interactive graphical user interface (GUI) for the Python programming language.</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Usage tips:</a:t>
            </a:r>
            <a:endParaRPr b="0" lang="en-US" sz="1800" spc="-1" strike="noStrike">
              <a:solidFill>
                <a:srgbClr val="000000"/>
              </a:solidFill>
              <a:latin typeface="Arial"/>
            </a:endParaRPr>
          </a:p>
          <a:p>
            <a:pPr marL="181080" indent="-216000">
              <a:lnSpc>
                <a:spcPct val="114000"/>
              </a:lnSpc>
              <a:spcBef>
                <a:spcPts val="601"/>
              </a:spcBef>
              <a:spcAft>
                <a:spcPts val="601"/>
              </a:spcAft>
              <a:buClr>
                <a:srgbClr val="111111"/>
              </a:buClr>
              <a:buSzPct val="65000"/>
              <a:buFont typeface="Arial"/>
              <a:buChar char="■"/>
            </a:pPr>
            <a:r>
              <a:rPr b="0" lang="en-US" sz="1800" spc="-1" strike="noStrike">
                <a:solidFill>
                  <a:srgbClr val="111111"/>
                </a:solidFill>
                <a:latin typeface="Open Sans"/>
                <a:ea typeface="Open Sans"/>
              </a:rPr>
              <a:t>Shift+Return runs a single cell.</a:t>
            </a:r>
            <a:endParaRPr b="0" lang="en-US" sz="1800" spc="-1" strike="noStrike">
              <a:solidFill>
                <a:srgbClr val="000000"/>
              </a:solidFill>
              <a:latin typeface="Arial"/>
            </a:endParaRPr>
          </a:p>
          <a:p>
            <a:pPr marL="181080" indent="-216000">
              <a:lnSpc>
                <a:spcPct val="114000"/>
              </a:lnSpc>
              <a:spcBef>
                <a:spcPts val="601"/>
              </a:spcBef>
              <a:spcAft>
                <a:spcPts val="601"/>
              </a:spcAft>
              <a:buClr>
                <a:srgbClr val="111111"/>
              </a:buClr>
              <a:buSzPct val="65000"/>
              <a:buFont typeface="Arial"/>
              <a:buChar char="■"/>
            </a:pPr>
            <a:r>
              <a:rPr b="0" lang="en-US" sz="1800" spc="-1" strike="noStrike">
                <a:solidFill>
                  <a:srgbClr val="111111"/>
                </a:solidFill>
                <a:latin typeface="Open Sans"/>
                <a:ea typeface="Open Sans"/>
              </a:rPr>
              <a:t>Use the       icon in the toolbar to run all cells.      </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For an advanced JupyerLab tutorial, see e.g. </a:t>
            </a:r>
            <a:r>
              <a:rPr b="0" lang="en-US" sz="1800" spc="-1" strike="noStrike" u="sng">
                <a:solidFill>
                  <a:srgbClr val="000000"/>
                </a:solidFill>
                <a:uFillTx/>
                <a:latin typeface="Open Sans"/>
                <a:ea typeface="Open Sans"/>
                <a:hlinkClick r:id="rId2"/>
              </a:rPr>
              <a:t>https://realpython.com/using-</a:t>
            </a:r>
            <a:br>
              <a:rPr sz="1800"/>
            </a:br>
            <a:r>
              <a:rPr b="0" lang="en-US" sz="1800" spc="-1" strike="noStrike" u="sng">
                <a:solidFill>
                  <a:srgbClr val="000000"/>
                </a:solidFill>
                <a:uFillTx/>
                <a:latin typeface="Open Sans"/>
                <a:ea typeface="Open Sans"/>
                <a:hlinkClick r:id="rId3"/>
              </a:rPr>
              <a:t>jupyterlab/</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Code will run inside an EBRAINS VM with 2 GB RAM. Files stored in your VM home directory can disappear—save them locally for safekeeping!</a:t>
            </a:r>
            <a:endParaRPr b="0" lang="en-US" sz="1800" spc="-1" strike="noStrike">
              <a:solidFill>
                <a:srgbClr val="000000"/>
              </a:solidFill>
              <a:latin typeface="Arial"/>
            </a:endParaRPr>
          </a:p>
        </p:txBody>
      </p:sp>
      <p:pic>
        <p:nvPicPr>
          <p:cNvPr id="185" name="" descr=""/>
          <p:cNvPicPr/>
          <p:nvPr/>
        </p:nvPicPr>
        <p:blipFill>
          <a:blip r:embed="rId4"/>
          <a:stretch/>
        </p:blipFill>
        <p:spPr>
          <a:xfrm>
            <a:off x="5214600" y="1545840"/>
            <a:ext cx="6670800" cy="4167360"/>
          </a:xfrm>
          <a:prstGeom prst="rect">
            <a:avLst/>
          </a:prstGeom>
          <a:ln w="0">
            <a:noFill/>
          </a:ln>
        </p:spPr>
      </p:pic>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TextShape 19"/>
          <p:cNvSpPr/>
          <p:nvPr/>
        </p:nvSpPr>
        <p:spPr>
          <a:xfrm>
            <a:off x="371520" y="252000"/>
            <a:ext cx="11446560" cy="112212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5" strike="noStrike">
                <a:solidFill>
                  <a:srgbClr val="023d6b"/>
                </a:solidFill>
                <a:latin typeface="Arial"/>
                <a:ea typeface="DejaVu Sans"/>
              </a:rPr>
              <a:t>Where to find materials?</a:t>
            </a:r>
            <a:endParaRPr b="0" lang="en-US" sz="3200" spc="-1" strike="noStrike">
              <a:solidFill>
                <a:srgbClr val="000000"/>
              </a:solidFill>
              <a:latin typeface="Arial"/>
            </a:endParaRPr>
          </a:p>
        </p:txBody>
      </p:sp>
      <p:pic>
        <p:nvPicPr>
          <p:cNvPr id="187" name="" descr=""/>
          <p:cNvPicPr/>
          <p:nvPr/>
        </p:nvPicPr>
        <p:blipFill>
          <a:blip r:embed="rId1"/>
          <a:stretch/>
        </p:blipFill>
        <p:spPr>
          <a:xfrm>
            <a:off x="5588280" y="1434600"/>
            <a:ext cx="6270120" cy="3916800"/>
          </a:xfrm>
          <a:prstGeom prst="rect">
            <a:avLst/>
          </a:prstGeom>
          <a:ln w="0">
            <a:noFill/>
          </a:ln>
        </p:spPr>
      </p:pic>
      <p:sp>
        <p:nvSpPr>
          <p:cNvPr id="188" name=""/>
          <p:cNvSpPr/>
          <p:nvPr/>
        </p:nvSpPr>
        <p:spPr>
          <a:xfrm>
            <a:off x="4691880" y="1614240"/>
            <a:ext cx="407520" cy="399960"/>
          </a:xfrm>
          <a:prstGeom prst="rect">
            <a:avLst/>
          </a:prstGeom>
          <a:noFill/>
          <a:ln w="0">
            <a:noFill/>
          </a:ln>
          <a:effectLst>
            <a:outerShdw blurRad="25560" dir="2700000" dist="25455" rotWithShape="0">
              <a:srgbClr val="808080">
                <a:alpha val="90000"/>
              </a:srgbClr>
            </a:outerShdw>
          </a:effectLst>
        </p:spPr>
        <p:style>
          <a:lnRef idx="0"/>
          <a:fillRef idx="0"/>
          <a:effectRef idx="0"/>
          <a:fontRef idx="minor"/>
        </p:style>
        <p:txBody>
          <a:bodyPr lIns="90000" rIns="90000" tIns="45000" bIns="45000" anchor="t">
            <a:noAutofit/>
          </a:bodyPr>
          <a:p>
            <a:pPr>
              <a:lnSpc>
                <a:spcPct val="100000"/>
              </a:lnSpc>
            </a:pPr>
            <a:r>
              <a:rPr b="0" lang="en-US" sz="1800" spc="-1" strike="noStrike">
                <a:solidFill>
                  <a:srgbClr val="111111"/>
                </a:solidFill>
                <a:latin typeface="Open Sans"/>
                <a:ea typeface="Open Sans"/>
              </a:rPr>
              <a:t>①</a:t>
            </a:r>
            <a:endParaRPr b="0" lang="en-US" sz="1800" spc="-1" strike="noStrike">
              <a:solidFill>
                <a:srgbClr val="000000"/>
              </a:solidFill>
              <a:latin typeface="Arial"/>
            </a:endParaRPr>
          </a:p>
        </p:txBody>
      </p:sp>
      <p:sp>
        <p:nvSpPr>
          <p:cNvPr id="189" name=""/>
          <p:cNvSpPr/>
          <p:nvPr/>
        </p:nvSpPr>
        <p:spPr>
          <a:xfrm>
            <a:off x="6543000" y="4404600"/>
            <a:ext cx="407520" cy="442800"/>
          </a:xfrm>
          <a:prstGeom prst="rect">
            <a:avLst/>
          </a:prstGeom>
          <a:noFill/>
          <a:ln w="0">
            <a:noFill/>
          </a:ln>
          <a:effectLst>
            <a:outerShdw blurRad="25560" dir="2700000" dist="25455" rotWithShape="0">
              <a:srgbClr val="808080">
                <a:alpha val="90000"/>
              </a:srgbClr>
            </a:outerShdw>
          </a:effectLst>
        </p:spPr>
        <p:style>
          <a:lnRef idx="0"/>
          <a:fillRef idx="0"/>
          <a:effectRef idx="0"/>
          <a:fontRef idx="minor"/>
        </p:style>
        <p:txBody>
          <a:bodyPr lIns="90000" rIns="90000" tIns="45000" bIns="4500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②</a:t>
            </a:r>
            <a:endParaRPr b="0" lang="en-US" sz="1800" spc="-1" strike="noStrike">
              <a:solidFill>
                <a:srgbClr val="000000"/>
              </a:solidFill>
              <a:latin typeface="Arial"/>
            </a:endParaRPr>
          </a:p>
        </p:txBody>
      </p:sp>
      <p:sp>
        <p:nvSpPr>
          <p:cNvPr id="190" name=""/>
          <p:cNvSpPr/>
          <p:nvPr/>
        </p:nvSpPr>
        <p:spPr>
          <a:xfrm>
            <a:off x="4710600" y="2532600"/>
            <a:ext cx="407520" cy="442800"/>
          </a:xfrm>
          <a:prstGeom prst="rect">
            <a:avLst/>
          </a:prstGeom>
          <a:noFill/>
          <a:ln w="0">
            <a:noFill/>
          </a:ln>
          <a:effectLst>
            <a:outerShdw blurRad="25560" dir="2700000" dist="25455" rotWithShape="0">
              <a:srgbClr val="808080">
                <a:alpha val="90000"/>
              </a:srgbClr>
            </a:outerShdw>
          </a:effectLst>
        </p:spPr>
        <p:style>
          <a:lnRef idx="0"/>
          <a:fillRef idx="0"/>
          <a:effectRef idx="0"/>
          <a:fontRef idx="minor"/>
        </p:style>
        <p:txBody>
          <a:bodyPr lIns="90000" rIns="90000" tIns="45000" bIns="4500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③</a:t>
            </a:r>
            <a:endParaRPr b="0" lang="en-US" sz="1800" spc="-1" strike="noStrike">
              <a:solidFill>
                <a:srgbClr val="000000"/>
              </a:solidFill>
              <a:latin typeface="Arial"/>
            </a:endParaRPr>
          </a:p>
        </p:txBody>
      </p:sp>
      <p:cxnSp>
        <p:nvCxnSpPr>
          <p:cNvPr id="191" name="Straight Arrow Connector 4"/>
          <p:cNvCxnSpPr/>
          <p:nvPr/>
        </p:nvCxnSpPr>
        <p:spPr>
          <a:xfrm flipV="1">
            <a:off x="5130720" y="1820160"/>
            <a:ext cx="389880" cy="6480"/>
          </a:xfrm>
          <a:prstGeom prst="straightConnector1">
            <a:avLst/>
          </a:prstGeom>
          <a:ln w="34925">
            <a:solidFill>
              <a:srgbClr val="262626"/>
            </a:solidFill>
            <a:round/>
            <a:tailEnd len="med" type="arrow" w="med"/>
          </a:ln>
        </p:spPr>
      </p:cxnSp>
      <p:cxnSp>
        <p:nvCxnSpPr>
          <p:cNvPr id="192" name="Straight Arrow Connector 5"/>
          <p:cNvCxnSpPr/>
          <p:nvPr/>
        </p:nvCxnSpPr>
        <p:spPr>
          <a:xfrm flipV="1">
            <a:off x="5338080" y="2755080"/>
            <a:ext cx="389880" cy="6480"/>
          </a:xfrm>
          <a:prstGeom prst="straightConnector1">
            <a:avLst/>
          </a:prstGeom>
          <a:ln w="34925">
            <a:solidFill>
              <a:srgbClr val="262626"/>
            </a:solidFill>
            <a:round/>
            <a:tailEnd len="med" type="arrow" w="med"/>
          </a:ln>
        </p:spPr>
      </p:cxnSp>
      <p:sp>
        <p:nvSpPr>
          <p:cNvPr id="193" name="TextShape 17"/>
          <p:cNvSpPr/>
          <p:nvPr/>
        </p:nvSpPr>
        <p:spPr>
          <a:xfrm>
            <a:off x="268920" y="1254960"/>
            <a:ext cx="4301280" cy="560124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① </a:t>
            </a:r>
            <a:r>
              <a:rPr b="0" lang="en-US" sz="1800" spc="-1" strike="noStrike">
                <a:solidFill>
                  <a:srgbClr val="111111"/>
                </a:solidFill>
                <a:latin typeface="Open Sans"/>
                <a:ea typeface="Open Sans"/>
              </a:rPr>
              <a:t>Use your browser to go to the URL:</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u="sng">
                <a:solidFill>
                  <a:srgbClr val="000000"/>
                </a:solidFill>
                <a:uFillTx/>
                <a:latin typeface="Open Sans"/>
                <a:ea typeface="Open Sans"/>
                <a:hlinkClick r:id="rId2"/>
              </a:rPr>
              <a:t>https://lab.ebrains.eu/</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Select JSC as execution site.</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② </a:t>
            </a:r>
            <a:r>
              <a:rPr b="0" lang="en-US" sz="1800" spc="-1" strike="noStrike">
                <a:solidFill>
                  <a:srgbClr val="111111"/>
                </a:solidFill>
                <a:latin typeface="Open Sans"/>
                <a:ea typeface="Open Sans"/>
              </a:rPr>
              <a:t>Open a terminal and run (one line):</a:t>
            </a:r>
            <a:endParaRPr b="0" lang="en-US" sz="1800" spc="-1" strike="noStrike">
              <a:solidFill>
                <a:srgbClr val="000000"/>
              </a:solidFill>
              <a:latin typeface="Arial"/>
            </a:endParaRPr>
          </a:p>
          <a:p>
            <a:pPr marL="181080">
              <a:lnSpc>
                <a:spcPct val="114000"/>
              </a:lnSpc>
              <a:spcBef>
                <a:spcPts val="601"/>
              </a:spcBef>
              <a:spcAft>
                <a:spcPts val="601"/>
              </a:spcAft>
            </a:pPr>
            <a:r>
              <a:rPr b="0" lang="en-US" sz="1600" spc="-1" strike="noStrike">
                <a:solidFill>
                  <a:srgbClr val="111111"/>
                </a:solidFill>
                <a:latin typeface="Courier New"/>
                <a:ea typeface="Open Sans"/>
              </a:rPr>
              <a:t>git clone https://github.com/clinssen/ebrains-nestml-spinnaker</a:t>
            </a:r>
            <a:endParaRPr b="0" lang="en-US" sz="16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③ </a:t>
            </a:r>
            <a:r>
              <a:rPr b="0" lang="en-US" sz="1800" spc="-1" strike="noStrike">
                <a:solidFill>
                  <a:srgbClr val="111111"/>
                </a:solidFill>
                <a:latin typeface="Open Sans"/>
                <a:ea typeface="Open Sans"/>
              </a:rPr>
              <a:t>Open any of the downloaded  </a:t>
            </a:r>
            <a:br>
              <a:rPr sz="1800"/>
            </a:br>
            <a:r>
              <a:rPr b="0" lang="en-US" sz="1800" spc="-1" strike="noStrike">
                <a:solidFill>
                  <a:srgbClr val="111111"/>
                </a:solidFill>
                <a:latin typeface="Open Sans"/>
                <a:ea typeface="Open Sans"/>
              </a:rPr>
              <a:t>     notebooks</a:t>
            </a:r>
            <a:endParaRPr b="0" lang="en-US" sz="1800" spc="-1" strike="noStrike">
              <a:solidFill>
                <a:srgbClr val="000000"/>
              </a:solidFill>
              <a:latin typeface="Arial"/>
            </a:endParaRPr>
          </a:p>
          <a:p>
            <a:pPr marL="181080">
              <a:lnSpc>
                <a:spcPct val="114000"/>
              </a:lnSpc>
              <a:spcBef>
                <a:spcPts val="601"/>
              </a:spcBef>
              <a:spcAft>
                <a:spcPts val="601"/>
              </a:spcAft>
            </a:pPr>
            <a:endParaRPr b="0" lang="en-US" sz="16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p:txBody>
      </p:sp>
      <p:cxnSp>
        <p:nvCxnSpPr>
          <p:cNvPr id="194" name="Straight Arrow Connector 6"/>
          <p:cNvCxnSpPr/>
          <p:nvPr/>
        </p:nvCxnSpPr>
        <p:spPr>
          <a:xfrm flipV="1">
            <a:off x="6985440" y="4025520"/>
            <a:ext cx="271800" cy="455040"/>
          </a:xfrm>
          <a:prstGeom prst="straightConnector1">
            <a:avLst/>
          </a:prstGeom>
          <a:ln w="34925">
            <a:solidFill>
              <a:srgbClr val="262626"/>
            </a:solidFill>
            <a:round/>
            <a:tailEnd len="med" type="arrow" w="med"/>
          </a:ln>
        </p:spPr>
      </p:cxnSp>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TextShape 1"/>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5" strike="noStrike">
                <a:solidFill>
                  <a:srgbClr val="023d6b"/>
                </a:solidFill>
                <a:latin typeface="Arial"/>
                <a:ea typeface="DejaVu Sans"/>
              </a:rPr>
              <a:t>Part 1: Generating code for the neuron model</a:t>
            </a:r>
            <a:endParaRPr b="0" lang="en-US" sz="3200" spc="-1" strike="noStrike">
              <a:solidFill>
                <a:srgbClr val="000000"/>
              </a:solidFill>
              <a:latin typeface="Arial"/>
            </a:endParaRPr>
          </a:p>
        </p:txBody>
      </p:sp>
      <p:sp>
        <p:nvSpPr>
          <p:cNvPr id="196" name="TextShape 2"/>
          <p:cNvSpPr/>
          <p:nvPr/>
        </p:nvSpPr>
        <p:spPr>
          <a:xfrm>
            <a:off x="309600" y="1252080"/>
            <a:ext cx="9290160" cy="499860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endParaRPr b="0" lang="en-US" sz="1800" spc="-1" strike="noStrike">
              <a:solidFill>
                <a:srgbClr val="000000"/>
              </a:solidFill>
              <a:latin typeface="Arial"/>
              <a:ea typeface="DejaVu Sans"/>
            </a:endParaRPr>
          </a:p>
        </p:txBody>
      </p:sp>
      <p:pic>
        <p:nvPicPr>
          <p:cNvPr id="197" name="" descr=""/>
          <p:cNvPicPr/>
          <p:nvPr/>
        </p:nvPicPr>
        <p:blipFill>
          <a:blip r:embed="rId1"/>
          <a:stretch/>
        </p:blipFill>
        <p:spPr>
          <a:xfrm>
            <a:off x="5588280" y="1434600"/>
            <a:ext cx="6270120" cy="3916800"/>
          </a:xfrm>
          <a:prstGeom prst="rect">
            <a:avLst/>
          </a:prstGeom>
          <a:ln w="0">
            <a:noFill/>
          </a:ln>
        </p:spPr>
      </p:pic>
      <p:sp>
        <p:nvSpPr>
          <p:cNvPr id="198" name=""/>
          <p:cNvSpPr/>
          <p:nvPr/>
        </p:nvSpPr>
        <p:spPr>
          <a:xfrm>
            <a:off x="4943880" y="2550240"/>
            <a:ext cx="407520" cy="399960"/>
          </a:xfrm>
          <a:prstGeom prst="rect">
            <a:avLst/>
          </a:prstGeom>
          <a:noFill/>
          <a:ln w="0">
            <a:noFill/>
          </a:ln>
          <a:effectLst>
            <a:outerShdw blurRad="25560" dir="2700000" dist="25455" rotWithShape="0">
              <a:srgbClr val="808080">
                <a:alpha val="90000"/>
              </a:srgbClr>
            </a:outerShdw>
          </a:effectLst>
        </p:spPr>
        <p:style>
          <a:lnRef idx="0"/>
          <a:fillRef idx="0"/>
          <a:effectRef idx="0"/>
          <a:fontRef idx="minor"/>
        </p:style>
        <p:txBody>
          <a:bodyPr lIns="90000" rIns="90000" tIns="45000" bIns="45000" anchor="t">
            <a:noAutofit/>
          </a:bodyPr>
          <a:p>
            <a:pPr>
              <a:lnSpc>
                <a:spcPct val="100000"/>
              </a:lnSpc>
            </a:pPr>
            <a:r>
              <a:rPr b="0" lang="en-US" sz="1800" spc="-1" strike="noStrike">
                <a:solidFill>
                  <a:srgbClr val="111111"/>
                </a:solidFill>
                <a:latin typeface="Open Sans"/>
                <a:ea typeface="Open Sans"/>
              </a:rPr>
              <a:t>①</a:t>
            </a:r>
            <a:endParaRPr b="0" lang="en-US" sz="1800" spc="-1" strike="noStrike">
              <a:solidFill>
                <a:srgbClr val="000000"/>
              </a:solidFill>
              <a:latin typeface="Arial"/>
            </a:endParaRPr>
          </a:p>
        </p:txBody>
      </p:sp>
      <p:cxnSp>
        <p:nvCxnSpPr>
          <p:cNvPr id="199" name="Straight Arrow Connector 1"/>
          <p:cNvCxnSpPr/>
          <p:nvPr/>
        </p:nvCxnSpPr>
        <p:spPr>
          <a:xfrm flipV="1">
            <a:off x="5338080" y="2755080"/>
            <a:ext cx="389880" cy="6480"/>
          </a:xfrm>
          <a:prstGeom prst="straightConnector1">
            <a:avLst/>
          </a:prstGeom>
          <a:ln w="34925">
            <a:solidFill>
              <a:srgbClr val="262626"/>
            </a:solidFill>
            <a:round/>
            <a:tailEnd len="med" type="arrow" w="med"/>
          </a:ln>
        </p:spPr>
      </p:cxnSp>
      <p:sp>
        <p:nvSpPr>
          <p:cNvPr id="200" name="TextShape 26"/>
          <p:cNvSpPr/>
          <p:nvPr/>
        </p:nvSpPr>
        <p:spPr>
          <a:xfrm>
            <a:off x="268920" y="1254960"/>
            <a:ext cx="4530600" cy="560124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① </a:t>
            </a:r>
            <a:r>
              <a:rPr b="0" lang="en-US" sz="1800" spc="-1" strike="noStrike">
                <a:solidFill>
                  <a:srgbClr val="111111"/>
                </a:solidFill>
                <a:latin typeface="Open Sans"/>
                <a:ea typeface="Open Sans"/>
              </a:rPr>
              <a:t>Open the notebook:</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Courier New"/>
                <a:ea typeface="Open Sans"/>
              </a:rPr>
              <a:t>spinnaker_nestml_code_gen.ipynb</a:t>
            </a:r>
            <a:endParaRPr b="0" lang="en-US" sz="1800" spc="-1" strike="noStrike">
              <a:solidFill>
                <a:srgbClr val="000000"/>
              </a:solidFill>
              <a:latin typeface="Arial"/>
            </a:endParaRPr>
          </a:p>
          <a:p>
            <a:pPr marL="181080">
              <a:lnSpc>
                <a:spcPct val="114000"/>
              </a:lnSpc>
              <a:spcBef>
                <a:spcPts val="601"/>
              </a:spcBef>
              <a:spcAft>
                <a:spcPts val="601"/>
              </a:spcAft>
            </a:pPr>
            <a:br>
              <a:rPr sz="1800"/>
            </a:br>
            <a:r>
              <a:rPr b="0" lang="en-US" sz="1800" spc="-1" strike="noStrike">
                <a:solidFill>
                  <a:srgbClr val="111111"/>
                </a:solidFill>
                <a:latin typeface="Open Sans"/>
                <a:ea typeface="Open Sans"/>
              </a:rPr>
              <a:t>② </a:t>
            </a:r>
            <a:r>
              <a:rPr b="0" lang="en-US" sz="1800" spc="-1" strike="noStrike">
                <a:solidFill>
                  <a:srgbClr val="111111"/>
                </a:solidFill>
                <a:latin typeface="Open Sans"/>
                <a:ea typeface="Open Sans"/>
              </a:rPr>
              <a:t>Run the entire notebook by clicking </a:t>
            </a:r>
            <a:br>
              <a:rPr sz="1800"/>
            </a:br>
            <a:r>
              <a:rPr b="0" lang="en-US" sz="1800" spc="-1" strike="noStrike">
                <a:solidFill>
                  <a:srgbClr val="111111"/>
                </a:solidFill>
                <a:latin typeface="Open Sans"/>
                <a:ea typeface="Open Sans"/>
              </a:rPr>
              <a:t>     the        icon. </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     </a:t>
            </a:r>
            <a:r>
              <a:rPr b="0" lang="en-US" sz="1800" spc="-1" strike="noStrike">
                <a:solidFill>
                  <a:srgbClr val="111111"/>
                </a:solidFill>
                <a:latin typeface="Open Sans"/>
                <a:ea typeface="Open Sans"/>
              </a:rPr>
              <a:t>This may take a few minutes as it </a:t>
            </a:r>
            <a:br>
              <a:rPr sz="1800"/>
            </a:br>
            <a:r>
              <a:rPr b="0" lang="en-US" sz="1800" spc="-1" strike="noStrike">
                <a:solidFill>
                  <a:srgbClr val="111111"/>
                </a:solidFill>
                <a:latin typeface="Open Sans"/>
                <a:ea typeface="Open Sans"/>
              </a:rPr>
              <a:t>     installs and compiles the entire</a:t>
            </a:r>
            <a:br>
              <a:rPr sz="1800"/>
            </a:br>
            <a:r>
              <a:rPr b="0" lang="en-US" sz="1800" spc="-1" strike="noStrike">
                <a:solidFill>
                  <a:srgbClr val="111111"/>
                </a:solidFill>
                <a:latin typeface="Open Sans"/>
                <a:ea typeface="Open Sans"/>
              </a:rPr>
              <a:t>     SpiNNaker development software</a:t>
            </a:r>
            <a:br>
              <a:rPr sz="1800"/>
            </a:br>
            <a:r>
              <a:rPr b="0" lang="en-US" sz="1800" spc="-1" strike="noStrike">
                <a:solidFill>
                  <a:srgbClr val="111111"/>
                </a:solidFill>
                <a:latin typeface="Open Sans"/>
                <a:ea typeface="Open Sans"/>
              </a:rPr>
              <a:t>     stack.</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     </a:t>
            </a:r>
            <a:r>
              <a:rPr b="0" lang="en-US" sz="1800" spc="-1" strike="noStrike">
                <a:solidFill>
                  <a:srgbClr val="111111"/>
                </a:solidFill>
                <a:latin typeface="Open Sans"/>
                <a:ea typeface="Open Sans"/>
              </a:rPr>
              <a:t>It then generates and compiles code</a:t>
            </a:r>
            <a:br>
              <a:rPr sz="1800"/>
            </a:br>
            <a:r>
              <a:rPr b="0" lang="en-US" sz="1800" spc="-1" strike="noStrike">
                <a:solidFill>
                  <a:srgbClr val="111111"/>
                </a:solidFill>
                <a:latin typeface="Open Sans"/>
                <a:ea typeface="Open Sans"/>
              </a:rPr>
              <a:t>     for SpiNNaker for the NESTML    </a:t>
            </a:r>
            <a:br>
              <a:rPr sz="1800"/>
            </a:br>
            <a:r>
              <a:rPr b="0" lang="en-US" sz="1800" spc="-1" strike="noStrike">
                <a:solidFill>
                  <a:srgbClr val="111111"/>
                </a:solidFill>
                <a:latin typeface="Open Sans"/>
                <a:ea typeface="Open Sans"/>
              </a:rPr>
              <a:t>     iaf_psc_exp model.</a:t>
            </a:r>
            <a:endParaRPr b="0" lang="en-US" sz="1800" spc="-1" strike="noStrike">
              <a:solidFill>
                <a:srgbClr val="000000"/>
              </a:solidFill>
              <a:latin typeface="Arial"/>
            </a:endParaRPr>
          </a:p>
          <a:p>
            <a:pPr marL="181080">
              <a:lnSpc>
                <a:spcPct val="114000"/>
              </a:lnSpc>
              <a:spcBef>
                <a:spcPts val="601"/>
              </a:spcBef>
              <a:spcAft>
                <a:spcPts val="601"/>
              </a:spcAft>
            </a:pPr>
            <a:endParaRPr b="0" lang="en-US" sz="16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p:txBody>
      </p:sp>
      <p:pic>
        <p:nvPicPr>
          <p:cNvPr id="201" name="" descr=""/>
          <p:cNvPicPr/>
          <p:nvPr/>
        </p:nvPicPr>
        <p:blipFill>
          <a:blip r:embed="rId2"/>
          <a:stretch/>
        </p:blipFill>
        <p:spPr>
          <a:xfrm>
            <a:off x="1119600" y="2836800"/>
            <a:ext cx="455400" cy="349920"/>
          </a:xfrm>
          <a:prstGeom prst="rect">
            <a:avLst/>
          </a:prstGeom>
          <a:ln w="0">
            <a:noFill/>
          </a:ln>
        </p:spPr>
      </p:pic>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Shape 27"/>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5" strike="noStrike">
                <a:solidFill>
                  <a:srgbClr val="023d6b"/>
                </a:solidFill>
                <a:latin typeface="Arial"/>
                <a:ea typeface="DejaVu Sans"/>
              </a:rPr>
              <a:t>Part 2: Characterising the single-neuron model</a:t>
            </a:r>
            <a:endParaRPr b="0" lang="en-US" sz="3200" spc="-1" strike="noStrike">
              <a:solidFill>
                <a:srgbClr val="000000"/>
              </a:solidFill>
              <a:latin typeface="Arial"/>
            </a:endParaRPr>
          </a:p>
        </p:txBody>
      </p:sp>
      <p:sp>
        <p:nvSpPr>
          <p:cNvPr id="203" name="TextShape 28"/>
          <p:cNvSpPr/>
          <p:nvPr/>
        </p:nvSpPr>
        <p:spPr>
          <a:xfrm>
            <a:off x="309600" y="1252080"/>
            <a:ext cx="9290160" cy="499860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DejaVu Sans"/>
            </a:endParaRPr>
          </a:p>
        </p:txBody>
      </p:sp>
      <p:pic>
        <p:nvPicPr>
          <p:cNvPr id="204" name="" descr=""/>
          <p:cNvPicPr/>
          <p:nvPr/>
        </p:nvPicPr>
        <p:blipFill>
          <a:blip r:embed="rId1"/>
          <a:stretch/>
        </p:blipFill>
        <p:spPr>
          <a:xfrm>
            <a:off x="5588280" y="1434600"/>
            <a:ext cx="6270120" cy="3916800"/>
          </a:xfrm>
          <a:prstGeom prst="rect">
            <a:avLst/>
          </a:prstGeom>
          <a:ln w="0">
            <a:noFill/>
          </a:ln>
        </p:spPr>
      </p:pic>
      <p:sp>
        <p:nvSpPr>
          <p:cNvPr id="205" name=""/>
          <p:cNvSpPr/>
          <p:nvPr/>
        </p:nvSpPr>
        <p:spPr>
          <a:xfrm>
            <a:off x="4943880" y="2550240"/>
            <a:ext cx="407520" cy="399960"/>
          </a:xfrm>
          <a:prstGeom prst="rect">
            <a:avLst/>
          </a:prstGeom>
          <a:noFill/>
          <a:ln w="0">
            <a:noFill/>
          </a:ln>
          <a:effectLst>
            <a:outerShdw blurRad="25560" dir="2700000" dist="25455" rotWithShape="0">
              <a:srgbClr val="808080">
                <a:alpha val="90000"/>
              </a:srgbClr>
            </a:outerShdw>
          </a:effectLst>
        </p:spPr>
        <p:style>
          <a:lnRef idx="0"/>
          <a:fillRef idx="0"/>
          <a:effectRef idx="0"/>
          <a:fontRef idx="minor"/>
        </p:style>
        <p:txBody>
          <a:bodyPr lIns="90000" rIns="90000" tIns="45000" bIns="45000" anchor="t">
            <a:noAutofit/>
          </a:bodyPr>
          <a:p>
            <a:pPr>
              <a:lnSpc>
                <a:spcPct val="100000"/>
              </a:lnSpc>
            </a:pPr>
            <a:r>
              <a:rPr b="0" lang="en-US" sz="1800" spc="-1" strike="noStrike">
                <a:solidFill>
                  <a:srgbClr val="111111"/>
                </a:solidFill>
                <a:latin typeface="Open Sans"/>
                <a:ea typeface="Open Sans"/>
              </a:rPr>
              <a:t>①</a:t>
            </a:r>
            <a:endParaRPr b="0" lang="en-US" sz="1800" spc="-1" strike="noStrike">
              <a:solidFill>
                <a:srgbClr val="000000"/>
              </a:solidFill>
              <a:latin typeface="Arial"/>
            </a:endParaRPr>
          </a:p>
        </p:txBody>
      </p:sp>
      <p:cxnSp>
        <p:nvCxnSpPr>
          <p:cNvPr id="206" name="Straight Arrow Connector 2"/>
          <p:cNvCxnSpPr/>
          <p:nvPr/>
        </p:nvCxnSpPr>
        <p:spPr>
          <a:xfrm flipV="1">
            <a:off x="5338080" y="2755080"/>
            <a:ext cx="389880" cy="6480"/>
          </a:xfrm>
          <a:prstGeom prst="straightConnector1">
            <a:avLst/>
          </a:prstGeom>
          <a:ln w="34925">
            <a:solidFill>
              <a:srgbClr val="262626"/>
            </a:solidFill>
            <a:round/>
            <a:tailEnd len="med" type="arrow" w="med"/>
          </a:ln>
        </p:spPr>
      </p:cxnSp>
      <p:sp>
        <p:nvSpPr>
          <p:cNvPr id="207" name="TextShape 29"/>
          <p:cNvSpPr/>
          <p:nvPr/>
        </p:nvSpPr>
        <p:spPr>
          <a:xfrm>
            <a:off x="268920" y="1254960"/>
            <a:ext cx="4636800" cy="560124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① </a:t>
            </a:r>
            <a:r>
              <a:rPr b="0" lang="en-US" sz="1800" spc="-1" strike="noStrike">
                <a:solidFill>
                  <a:srgbClr val="111111"/>
                </a:solidFill>
                <a:latin typeface="Open Sans"/>
                <a:ea typeface="Open Sans"/>
              </a:rPr>
              <a:t>Open the notebook:</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Courier New"/>
                <a:ea typeface="Open Sans"/>
              </a:rPr>
              <a:t>spinnaker_nestml_neuron</a:t>
            </a:r>
            <a:br>
              <a:rPr sz="1800"/>
            </a:br>
            <a:r>
              <a:rPr b="0" lang="en-US" sz="1800" spc="-1" strike="noStrike">
                <a:solidFill>
                  <a:srgbClr val="111111"/>
                </a:solidFill>
                <a:latin typeface="Courier New"/>
                <a:ea typeface="Open Sans"/>
              </a:rPr>
              <a:t>_characterisation_exercise.ipynb </a:t>
            </a:r>
            <a:endParaRPr b="0" lang="en-US" sz="1800" spc="-1" strike="noStrike">
              <a:solidFill>
                <a:srgbClr val="000000"/>
              </a:solidFill>
              <a:latin typeface="Arial"/>
            </a:endParaRPr>
          </a:p>
          <a:p>
            <a:pPr marL="181080">
              <a:lnSpc>
                <a:spcPct val="114000"/>
              </a:lnSpc>
              <a:spcBef>
                <a:spcPts val="601"/>
              </a:spcBef>
              <a:spcAft>
                <a:spcPts val="601"/>
              </a:spcAft>
            </a:pPr>
            <a:br>
              <a:rPr sz="1800"/>
            </a:br>
            <a:r>
              <a:rPr b="0" lang="en-US" sz="1800" spc="-1" strike="noStrike">
                <a:solidFill>
                  <a:srgbClr val="111111"/>
                </a:solidFill>
                <a:latin typeface="Open Sans"/>
                <a:ea typeface="Open Sans"/>
              </a:rPr>
              <a:t>② </a:t>
            </a:r>
            <a:r>
              <a:rPr b="0" lang="en-US" sz="1800" spc="-1" strike="noStrike">
                <a:solidFill>
                  <a:srgbClr val="111111"/>
                </a:solidFill>
                <a:latin typeface="Open Sans"/>
                <a:ea typeface="Open Sans"/>
              </a:rPr>
              <a:t>Run the entire notebook by clicking </a:t>
            </a:r>
            <a:br>
              <a:rPr sz="1800"/>
            </a:br>
            <a:r>
              <a:rPr b="0" lang="en-US" sz="1800" spc="-1" strike="noStrike">
                <a:solidFill>
                  <a:srgbClr val="111111"/>
                </a:solidFill>
                <a:latin typeface="Open Sans"/>
                <a:ea typeface="Open Sans"/>
              </a:rPr>
              <a:t>     the        icon. </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     </a:t>
            </a:r>
            <a:r>
              <a:rPr b="0" lang="en-US" sz="1800" spc="-1" strike="noStrike">
                <a:solidFill>
                  <a:srgbClr val="111111"/>
                </a:solidFill>
                <a:latin typeface="Open Sans"/>
                <a:ea typeface="Open Sans"/>
              </a:rPr>
              <a:t>A simulation will run that produces a</a:t>
            </a:r>
            <a:br>
              <a:rPr sz="1800"/>
            </a:br>
            <a:r>
              <a:rPr b="0" lang="en-US" sz="1800" spc="-1" strike="noStrike">
                <a:solidFill>
                  <a:srgbClr val="111111"/>
                </a:solidFill>
                <a:latin typeface="Open Sans"/>
                <a:ea typeface="Open Sans"/>
              </a:rPr>
              <a:t>     plot of excitatory postsynaptic </a:t>
            </a:r>
            <a:br>
              <a:rPr sz="1800"/>
            </a:br>
            <a:r>
              <a:rPr b="0" lang="en-US" sz="1800" spc="-1" strike="noStrike">
                <a:solidFill>
                  <a:srgbClr val="111111"/>
                </a:solidFill>
                <a:latin typeface="Open Sans"/>
                <a:ea typeface="Open Sans"/>
              </a:rPr>
              <a:t>     potentials.</a:t>
            </a:r>
            <a:br>
              <a:rPr sz="1800"/>
            </a:b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③ </a:t>
            </a:r>
            <a:r>
              <a:rPr b="0" lang="en-US" sz="1800" spc="-1" strike="noStrike">
                <a:solidFill>
                  <a:srgbClr val="111111"/>
                </a:solidFill>
                <a:latin typeface="Open Sans"/>
                <a:ea typeface="Open Sans"/>
              </a:rPr>
              <a:t>Excercise: Add another spike      </a:t>
            </a:r>
            <a:br>
              <a:rPr sz="1800"/>
            </a:br>
            <a:r>
              <a:rPr b="0" lang="en-US" sz="1800" spc="-1" strike="noStrike">
                <a:solidFill>
                  <a:srgbClr val="111111"/>
                </a:solidFill>
                <a:latin typeface="Open Sans"/>
                <a:ea typeface="Open Sans"/>
              </a:rPr>
              <a:t>     generator for inhibitory spikes.</a:t>
            </a:r>
            <a:endParaRPr b="0" lang="en-US" sz="1800" spc="-1" strike="noStrike">
              <a:solidFill>
                <a:srgbClr val="000000"/>
              </a:solidFill>
              <a:latin typeface="Arial"/>
            </a:endParaRPr>
          </a:p>
          <a:p>
            <a:pPr marL="181080">
              <a:lnSpc>
                <a:spcPct val="114000"/>
              </a:lnSpc>
              <a:spcBef>
                <a:spcPts val="601"/>
              </a:spcBef>
              <a:spcAft>
                <a:spcPts val="601"/>
              </a:spcAft>
            </a:pPr>
            <a:endParaRPr b="0" lang="en-US" sz="16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p:txBody>
      </p:sp>
      <p:pic>
        <p:nvPicPr>
          <p:cNvPr id="208" name="" descr=""/>
          <p:cNvPicPr/>
          <p:nvPr/>
        </p:nvPicPr>
        <p:blipFill>
          <a:blip r:embed="rId2"/>
          <a:stretch/>
        </p:blipFill>
        <p:spPr>
          <a:xfrm>
            <a:off x="1091520" y="3141000"/>
            <a:ext cx="455400" cy="349920"/>
          </a:xfrm>
          <a:prstGeom prst="rect">
            <a:avLst/>
          </a:prstGeom>
          <a:ln w="0">
            <a:noFill/>
          </a:ln>
        </p:spPr>
      </p:pic>
    </p:spTree>
  </p:cSld>
  <p:transition>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TextShape 31"/>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5" strike="noStrike">
                <a:solidFill>
                  <a:srgbClr val="023d6b"/>
                </a:solidFill>
                <a:latin typeface="Arial"/>
                <a:ea typeface="DejaVu Sans"/>
              </a:rPr>
              <a:t>Part 3: Balanced network model</a:t>
            </a:r>
            <a:endParaRPr b="0" lang="en-US" sz="3200" spc="-1" strike="noStrike">
              <a:solidFill>
                <a:srgbClr val="000000"/>
              </a:solidFill>
              <a:latin typeface="Arial"/>
            </a:endParaRPr>
          </a:p>
        </p:txBody>
      </p:sp>
      <p:sp>
        <p:nvSpPr>
          <p:cNvPr id="210" name="TextShape 32"/>
          <p:cNvSpPr/>
          <p:nvPr/>
        </p:nvSpPr>
        <p:spPr>
          <a:xfrm>
            <a:off x="309600" y="1252080"/>
            <a:ext cx="9290160" cy="499860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DejaVu Sans"/>
            </a:endParaRPr>
          </a:p>
        </p:txBody>
      </p:sp>
      <p:pic>
        <p:nvPicPr>
          <p:cNvPr id="211" name="" descr=""/>
          <p:cNvPicPr/>
          <p:nvPr/>
        </p:nvPicPr>
        <p:blipFill>
          <a:blip r:embed="rId1"/>
          <a:stretch/>
        </p:blipFill>
        <p:spPr>
          <a:xfrm>
            <a:off x="5588280" y="1434600"/>
            <a:ext cx="6270120" cy="3916800"/>
          </a:xfrm>
          <a:prstGeom prst="rect">
            <a:avLst/>
          </a:prstGeom>
          <a:ln w="0">
            <a:noFill/>
          </a:ln>
        </p:spPr>
      </p:pic>
      <p:sp>
        <p:nvSpPr>
          <p:cNvPr id="212" name=""/>
          <p:cNvSpPr/>
          <p:nvPr/>
        </p:nvSpPr>
        <p:spPr>
          <a:xfrm>
            <a:off x="4943880" y="2550240"/>
            <a:ext cx="407520" cy="399960"/>
          </a:xfrm>
          <a:prstGeom prst="rect">
            <a:avLst/>
          </a:prstGeom>
          <a:noFill/>
          <a:ln w="0">
            <a:noFill/>
          </a:ln>
          <a:effectLst>
            <a:outerShdw blurRad="25560" dir="2700000" dist="25455" rotWithShape="0">
              <a:srgbClr val="808080">
                <a:alpha val="90000"/>
              </a:srgbClr>
            </a:outerShdw>
          </a:effectLst>
        </p:spPr>
        <p:style>
          <a:lnRef idx="0"/>
          <a:fillRef idx="0"/>
          <a:effectRef idx="0"/>
          <a:fontRef idx="minor"/>
        </p:style>
        <p:txBody>
          <a:bodyPr lIns="90000" rIns="90000" tIns="45000" bIns="45000" anchor="t">
            <a:noAutofit/>
          </a:bodyPr>
          <a:p>
            <a:pPr>
              <a:lnSpc>
                <a:spcPct val="100000"/>
              </a:lnSpc>
            </a:pPr>
            <a:r>
              <a:rPr b="0" lang="en-US" sz="1800" spc="-1" strike="noStrike">
                <a:solidFill>
                  <a:srgbClr val="111111"/>
                </a:solidFill>
                <a:latin typeface="Open Sans"/>
                <a:ea typeface="Open Sans"/>
              </a:rPr>
              <a:t>①</a:t>
            </a:r>
            <a:endParaRPr b="0" lang="en-US" sz="1800" spc="-1" strike="noStrike">
              <a:solidFill>
                <a:srgbClr val="000000"/>
              </a:solidFill>
              <a:latin typeface="Arial"/>
            </a:endParaRPr>
          </a:p>
        </p:txBody>
      </p:sp>
      <p:cxnSp>
        <p:nvCxnSpPr>
          <p:cNvPr id="213" name="Straight Arrow Connector 3"/>
          <p:cNvCxnSpPr/>
          <p:nvPr/>
        </p:nvCxnSpPr>
        <p:spPr>
          <a:xfrm flipV="1">
            <a:off x="5338080" y="2755080"/>
            <a:ext cx="389880" cy="6480"/>
          </a:xfrm>
          <a:prstGeom prst="straightConnector1">
            <a:avLst/>
          </a:prstGeom>
          <a:ln w="34925">
            <a:solidFill>
              <a:srgbClr val="262626"/>
            </a:solidFill>
            <a:round/>
            <a:tailEnd len="med" type="arrow" w="med"/>
          </a:ln>
        </p:spPr>
      </p:cxnSp>
      <p:sp>
        <p:nvSpPr>
          <p:cNvPr id="214" name="TextShape 33"/>
          <p:cNvSpPr/>
          <p:nvPr/>
        </p:nvSpPr>
        <p:spPr>
          <a:xfrm>
            <a:off x="268920" y="1254960"/>
            <a:ext cx="4759200" cy="560124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1800" spc="-1" strike="noStrike">
                <a:solidFill>
                  <a:srgbClr val="111111"/>
                </a:solidFill>
                <a:latin typeface="Open Sans"/>
                <a:ea typeface="Open Sans"/>
              </a:rPr>
              <a:t>① </a:t>
            </a:r>
            <a:r>
              <a:rPr b="0" lang="en-US" sz="1800" spc="-1" strike="noStrike">
                <a:solidFill>
                  <a:srgbClr val="111111"/>
                </a:solidFill>
                <a:latin typeface="Open Sans"/>
                <a:ea typeface="Open Sans"/>
              </a:rPr>
              <a:t>Open the notebook:</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Courier New"/>
                <a:ea typeface="Open Sans"/>
              </a:rPr>
              <a:t>spinnaker_balanced_network.ipynb     </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② </a:t>
            </a:r>
            <a:r>
              <a:rPr b="0" lang="en-US" sz="1800" spc="-1" strike="noStrike">
                <a:solidFill>
                  <a:srgbClr val="111111"/>
                </a:solidFill>
                <a:latin typeface="Open Sans"/>
                <a:ea typeface="Open Sans"/>
              </a:rPr>
              <a:t>Run the entire notebook by clicking </a:t>
            </a:r>
            <a:br>
              <a:rPr sz="1800"/>
            </a:br>
            <a:r>
              <a:rPr b="0" lang="en-US" sz="1800" spc="-1" strike="noStrike">
                <a:solidFill>
                  <a:srgbClr val="111111"/>
                </a:solidFill>
                <a:latin typeface="Open Sans"/>
                <a:ea typeface="Open Sans"/>
              </a:rPr>
              <a:t>     the        icon. </a:t>
            </a: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     </a:t>
            </a:r>
            <a:r>
              <a:rPr b="0" lang="en-US" sz="1800" spc="-1" strike="noStrike">
                <a:solidFill>
                  <a:srgbClr val="111111"/>
                </a:solidFill>
                <a:latin typeface="Open Sans"/>
                <a:ea typeface="Open Sans"/>
              </a:rPr>
              <a:t>A simulation will run that produces a</a:t>
            </a:r>
            <a:br>
              <a:rPr sz="1800"/>
            </a:br>
            <a:r>
              <a:rPr b="0" lang="en-US" sz="1800" spc="-1" strike="noStrike">
                <a:solidFill>
                  <a:srgbClr val="111111"/>
                </a:solidFill>
                <a:latin typeface="Open Sans"/>
                <a:ea typeface="Open Sans"/>
              </a:rPr>
              <a:t>     rastergram and a plot of membrane </a:t>
            </a:r>
            <a:br>
              <a:rPr sz="1800"/>
            </a:br>
            <a:r>
              <a:rPr b="0" lang="en-US" sz="1800" spc="-1" strike="noStrike">
                <a:solidFill>
                  <a:srgbClr val="111111"/>
                </a:solidFill>
                <a:latin typeface="Open Sans"/>
                <a:ea typeface="Open Sans"/>
              </a:rPr>
              <a:t>     potentials.</a:t>
            </a:r>
            <a:br>
              <a:rPr sz="1800"/>
            </a:br>
            <a:endParaRPr b="0" lang="en-US" sz="1800" spc="-1" strike="noStrike">
              <a:solidFill>
                <a:srgbClr val="000000"/>
              </a:solidFill>
              <a:latin typeface="Arial"/>
            </a:endParaRPr>
          </a:p>
          <a:p>
            <a:pPr marL="181080">
              <a:lnSpc>
                <a:spcPct val="114000"/>
              </a:lnSpc>
              <a:spcBef>
                <a:spcPts val="601"/>
              </a:spcBef>
              <a:spcAft>
                <a:spcPts val="601"/>
              </a:spcAft>
            </a:pPr>
            <a:r>
              <a:rPr b="0" lang="en-US" sz="1800" spc="-1" strike="noStrike">
                <a:solidFill>
                  <a:srgbClr val="111111"/>
                </a:solidFill>
                <a:latin typeface="Open Sans"/>
                <a:ea typeface="Open Sans"/>
              </a:rPr>
              <a:t>③ </a:t>
            </a:r>
            <a:r>
              <a:rPr b="0" lang="en-US" sz="1800" spc="-1" strike="noStrike">
                <a:solidFill>
                  <a:srgbClr val="111111"/>
                </a:solidFill>
                <a:latin typeface="Open Sans"/>
                <a:ea typeface="Open Sans"/>
              </a:rPr>
              <a:t>Excercise: Change the ratio of excitation</a:t>
            </a:r>
            <a:br>
              <a:rPr sz="1800"/>
            </a:br>
            <a:r>
              <a:rPr b="0" lang="en-US" sz="1800" spc="-1" strike="noStrike">
                <a:solidFill>
                  <a:srgbClr val="111111"/>
                </a:solidFill>
                <a:latin typeface="Open Sans"/>
                <a:ea typeface="Open Sans"/>
              </a:rPr>
              <a:t>     to inhibition and external input rate to </a:t>
            </a:r>
            <a:br>
              <a:rPr sz="1800"/>
            </a:br>
            <a:r>
              <a:rPr b="0" lang="en-US" sz="1800" spc="-1" strike="noStrike">
                <a:solidFill>
                  <a:srgbClr val="111111"/>
                </a:solidFill>
                <a:latin typeface="Open Sans"/>
                <a:ea typeface="Open Sans"/>
              </a:rPr>
              <a:t>     achieve synchronous network firing.</a:t>
            </a:r>
            <a:br>
              <a:rPr sz="1800"/>
            </a:br>
            <a:br>
              <a:rPr sz="1800"/>
            </a:br>
            <a:r>
              <a:rPr b="0" lang="en-US" sz="1800" spc="-1" strike="noStrike">
                <a:solidFill>
                  <a:srgbClr val="111111"/>
                </a:solidFill>
                <a:latin typeface="Open Sans"/>
                <a:ea typeface="Open Sans"/>
              </a:rPr>
              <a:t>     Add code for plotting firing rate and ISI </a:t>
            </a:r>
            <a:br>
              <a:rPr sz="1800"/>
            </a:br>
            <a:r>
              <a:rPr b="0" lang="en-US" sz="1800" spc="-1" strike="noStrike">
                <a:solidFill>
                  <a:srgbClr val="111111"/>
                </a:solidFill>
                <a:latin typeface="Open Sans"/>
                <a:ea typeface="Open Sans"/>
              </a:rPr>
              <a:t>     distribution.</a:t>
            </a:r>
            <a:endParaRPr b="0" lang="en-US" sz="1800" spc="-1" strike="noStrike">
              <a:solidFill>
                <a:srgbClr val="000000"/>
              </a:solidFill>
              <a:latin typeface="Arial"/>
            </a:endParaRPr>
          </a:p>
          <a:p>
            <a:pPr marL="181080">
              <a:lnSpc>
                <a:spcPct val="114000"/>
              </a:lnSpc>
              <a:spcBef>
                <a:spcPts val="601"/>
              </a:spcBef>
              <a:spcAft>
                <a:spcPts val="601"/>
              </a:spcAft>
            </a:pPr>
            <a:endParaRPr b="0" lang="en-US" sz="16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a:p>
            <a:pPr marL="181080">
              <a:lnSpc>
                <a:spcPct val="114000"/>
              </a:lnSpc>
              <a:spcBef>
                <a:spcPts val="601"/>
              </a:spcBef>
              <a:spcAft>
                <a:spcPts val="601"/>
              </a:spcAft>
            </a:pPr>
            <a:endParaRPr b="0" lang="en-US" sz="1800" spc="-1" strike="noStrike">
              <a:solidFill>
                <a:srgbClr val="000000"/>
              </a:solidFill>
              <a:latin typeface="Arial"/>
            </a:endParaRPr>
          </a:p>
        </p:txBody>
      </p:sp>
      <p:pic>
        <p:nvPicPr>
          <p:cNvPr id="215" name="" descr=""/>
          <p:cNvPicPr/>
          <p:nvPr/>
        </p:nvPicPr>
        <p:blipFill>
          <a:blip r:embed="rId2"/>
          <a:stretch/>
        </p:blipFill>
        <p:spPr>
          <a:xfrm>
            <a:off x="1091520" y="2832840"/>
            <a:ext cx="455400" cy="349920"/>
          </a:xfrm>
          <a:prstGeom prst="rect">
            <a:avLst/>
          </a:prstGeom>
          <a:ln w="0">
            <a:noFill/>
          </a:ln>
        </p:spPr>
      </p:pic>
    </p:spTree>
  </p:cSld>
  <p:transition>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TextShape 1"/>
          <p:cNvSpPr/>
          <p:nvPr/>
        </p:nvSpPr>
        <p:spPr>
          <a:xfrm>
            <a:off x="371520" y="324000"/>
            <a:ext cx="11446920" cy="1122480"/>
          </a:xfrm>
          <a:prstGeom prst="rect">
            <a:avLst/>
          </a:prstGeom>
          <a:noFill/>
          <a:ln w="0">
            <a:noFill/>
          </a:ln>
        </p:spPr>
        <p:style>
          <a:lnRef idx="0"/>
          <a:fillRef idx="0"/>
          <a:effectRef idx="0"/>
          <a:fontRef idx="minor"/>
        </p:style>
        <p:txBody>
          <a:bodyPr lIns="0" rIns="0" tIns="0" bIns="0" anchor="t">
            <a:noAutofit/>
          </a:bodyPr>
          <a:p>
            <a:pPr>
              <a:lnSpc>
                <a:spcPct val="114000"/>
              </a:lnSpc>
            </a:pPr>
            <a:r>
              <a:rPr b="1" lang="en-US" sz="3200" spc="185" strike="noStrike">
                <a:solidFill>
                  <a:srgbClr val="023d6b"/>
                </a:solidFill>
                <a:latin typeface="Arial"/>
                <a:ea typeface="DejaVu Sans"/>
              </a:rPr>
              <a:t>Further reading</a:t>
            </a:r>
            <a:endParaRPr b="0" lang="en-US" sz="3200" spc="-1" strike="noStrike">
              <a:solidFill>
                <a:srgbClr val="000000"/>
              </a:solidFill>
              <a:latin typeface="Arial"/>
            </a:endParaRPr>
          </a:p>
        </p:txBody>
      </p:sp>
      <p:sp>
        <p:nvSpPr>
          <p:cNvPr id="217" name="TextShape 2"/>
          <p:cNvSpPr/>
          <p:nvPr/>
        </p:nvSpPr>
        <p:spPr>
          <a:xfrm>
            <a:off x="309600" y="1214280"/>
            <a:ext cx="9284760" cy="4998600"/>
          </a:xfrm>
          <a:prstGeom prst="rect">
            <a:avLst/>
          </a:prstGeom>
          <a:noFill/>
          <a:ln w="0">
            <a:noFill/>
          </a:ln>
        </p:spPr>
        <p:style>
          <a:lnRef idx="0"/>
          <a:fillRef idx="0"/>
          <a:effectRef idx="0"/>
          <a:fontRef idx="minor"/>
        </p:style>
        <p:txBody>
          <a:bodyPr lIns="0" rIns="0" tIns="0" bIns="0" anchor="t">
            <a:noAutofit/>
          </a:bodyPr>
          <a:p>
            <a:pPr marL="181080">
              <a:lnSpc>
                <a:spcPct val="114000"/>
              </a:lnSpc>
              <a:spcBef>
                <a:spcPts val="601"/>
              </a:spcBef>
              <a:spcAft>
                <a:spcPts val="601"/>
              </a:spcAft>
            </a:pPr>
            <a:r>
              <a:rPr b="0" lang="en-US" sz="2000" spc="-1" strike="noStrike">
                <a:solidFill>
                  <a:srgbClr val="000000"/>
                </a:solidFill>
                <a:latin typeface="Open Sans"/>
                <a:ea typeface="Open Sans"/>
              </a:rPr>
              <a:t>NESTML:</a:t>
            </a:r>
            <a:endParaRPr b="0" lang="en-US" sz="2000" spc="-1" strike="noStrike">
              <a:solidFill>
                <a:srgbClr val="000000"/>
              </a:solidFill>
              <a:latin typeface="Arial"/>
            </a:endParaRPr>
          </a:p>
          <a:p>
            <a:pPr marL="181080">
              <a:lnSpc>
                <a:spcPct val="114000"/>
              </a:lnSpc>
              <a:spcBef>
                <a:spcPts val="601"/>
              </a:spcBef>
              <a:spcAft>
                <a:spcPts val="601"/>
              </a:spcAft>
            </a:pPr>
            <a:r>
              <a:rPr b="0" lang="en-US" sz="2000" spc="-1" strike="noStrike">
                <a:solidFill>
                  <a:srgbClr val="000000"/>
                </a:solidFill>
                <a:latin typeface="Open Sans"/>
                <a:ea typeface="Open Sans"/>
              </a:rPr>
              <a:t>	</a:t>
            </a:r>
            <a:r>
              <a:rPr b="0" lang="en-US" sz="2000" spc="-1" strike="noStrike" u="sng">
                <a:solidFill>
                  <a:srgbClr val="000000"/>
                </a:solidFill>
                <a:uFillTx/>
                <a:latin typeface="Open Sans"/>
                <a:ea typeface="Open Sans"/>
                <a:hlinkClick r:id="rId1"/>
              </a:rPr>
              <a:t>https://nestml.readthedocs.io/</a:t>
            </a:r>
            <a:endParaRPr b="0" lang="en-US" sz="2000" spc="-1" strike="noStrike">
              <a:solidFill>
                <a:srgbClr val="000000"/>
              </a:solidFill>
              <a:latin typeface="Arial"/>
            </a:endParaRPr>
          </a:p>
          <a:p>
            <a:pPr marL="181080">
              <a:lnSpc>
                <a:spcPct val="114000"/>
              </a:lnSpc>
              <a:spcBef>
                <a:spcPts val="601"/>
              </a:spcBef>
              <a:spcAft>
                <a:spcPts val="601"/>
              </a:spcAft>
            </a:pPr>
            <a:endParaRPr b="0" lang="en-US" sz="2000" spc="-1" strike="noStrike">
              <a:solidFill>
                <a:srgbClr val="000000"/>
              </a:solidFill>
              <a:latin typeface="Arial"/>
            </a:endParaRPr>
          </a:p>
          <a:p>
            <a:pPr marL="181080">
              <a:lnSpc>
                <a:spcPct val="114000"/>
              </a:lnSpc>
              <a:spcBef>
                <a:spcPts val="601"/>
              </a:spcBef>
              <a:spcAft>
                <a:spcPts val="601"/>
              </a:spcAft>
            </a:pPr>
            <a:r>
              <a:rPr b="0" lang="en-US" sz="2000" spc="-1" strike="noStrike">
                <a:solidFill>
                  <a:srgbClr val="000000"/>
                </a:solidFill>
                <a:latin typeface="Open Sans"/>
                <a:ea typeface="Open Sans"/>
              </a:rPr>
              <a:t>SpiNNaker:</a:t>
            </a:r>
            <a:endParaRPr b="0" lang="en-US" sz="2000" spc="-1" strike="noStrike">
              <a:solidFill>
                <a:srgbClr val="000000"/>
              </a:solidFill>
              <a:latin typeface="Arial"/>
            </a:endParaRPr>
          </a:p>
          <a:p>
            <a:pPr marL="181080">
              <a:lnSpc>
                <a:spcPct val="114000"/>
              </a:lnSpc>
              <a:spcBef>
                <a:spcPts val="601"/>
              </a:spcBef>
              <a:spcAft>
                <a:spcPts val="601"/>
              </a:spcAft>
            </a:pPr>
            <a:r>
              <a:rPr b="0" lang="en-US" sz="2000" spc="-1" strike="noStrike">
                <a:solidFill>
                  <a:srgbClr val="000000"/>
                </a:solidFill>
                <a:latin typeface="Open Sans"/>
                <a:ea typeface="Open Sans"/>
              </a:rPr>
              <a:t>	</a:t>
            </a:r>
            <a:r>
              <a:rPr b="0" lang="en-US" sz="2000" spc="-1" strike="noStrike" u="sng">
                <a:solidFill>
                  <a:srgbClr val="000000"/>
                </a:solidFill>
                <a:uFillTx/>
                <a:latin typeface="Open Sans"/>
                <a:ea typeface="Open Sans"/>
                <a:hlinkClick r:id="rId2"/>
              </a:rPr>
              <a:t>https://spinnakermanchester.github.io/</a:t>
            </a:r>
            <a:endParaRPr b="0" lang="en-US" sz="2000" spc="-1" strike="noStrike">
              <a:solidFill>
                <a:srgbClr val="000000"/>
              </a:solidFill>
              <a:latin typeface="Arial"/>
            </a:endParaRPr>
          </a:p>
          <a:p>
            <a:pPr marL="181080">
              <a:lnSpc>
                <a:spcPct val="114000"/>
              </a:lnSpc>
              <a:spcBef>
                <a:spcPts val="601"/>
              </a:spcBef>
              <a:spcAft>
                <a:spcPts val="601"/>
              </a:spcAft>
            </a:pPr>
            <a:br>
              <a:rPr sz="2000"/>
            </a:br>
            <a:br>
              <a:rPr sz="2000"/>
            </a:br>
            <a:r>
              <a:rPr b="0" lang="en-US" sz="2000" spc="-1" strike="noStrike">
                <a:solidFill>
                  <a:srgbClr val="000000"/>
                </a:solidFill>
                <a:latin typeface="Open Sans"/>
                <a:ea typeface="DejaVu Sans"/>
              </a:rPr>
              <a:t>Questions? Email Charl or Pooja!</a:t>
            </a:r>
            <a:endParaRPr b="0" lang="en-US" sz="2000" spc="-1" strike="noStrike">
              <a:solidFill>
                <a:srgbClr val="000000"/>
              </a:solidFill>
              <a:latin typeface="Arial"/>
            </a:endParaRPr>
          </a:p>
          <a:p>
            <a:pPr marL="181080">
              <a:lnSpc>
                <a:spcPct val="114000"/>
              </a:lnSpc>
              <a:spcBef>
                <a:spcPts val="601"/>
              </a:spcBef>
              <a:spcAft>
                <a:spcPts val="601"/>
              </a:spcAft>
            </a:pPr>
            <a:r>
              <a:rPr b="0" lang="en-US" sz="2000" spc="-1" strike="noStrike">
                <a:solidFill>
                  <a:srgbClr val="000000"/>
                </a:solidFill>
                <a:latin typeface="Open Sans"/>
                <a:ea typeface="Open Sans"/>
              </a:rPr>
              <a:t>	</a:t>
            </a:r>
            <a:r>
              <a:rPr b="0" lang="en-US" sz="2000" spc="-1" strike="noStrike">
                <a:solidFill>
                  <a:srgbClr val="000000"/>
                </a:solidFill>
                <a:latin typeface="Open Sans"/>
                <a:ea typeface="DejaVu Sans"/>
              </a:rPr>
              <a:t>&lt;</a:t>
            </a:r>
            <a:r>
              <a:rPr b="0" lang="en-US" sz="2000" spc="-1" strike="noStrike" u="sng">
                <a:solidFill>
                  <a:srgbClr val="000000"/>
                </a:solidFill>
                <a:uFillTx/>
                <a:latin typeface="Open Sans"/>
                <a:ea typeface="DejaVu Sans"/>
                <a:hlinkClick r:id="rId3"/>
              </a:rPr>
              <a:t>c.linssen@fz-juelich.de</a:t>
            </a:r>
            <a:r>
              <a:rPr b="0" lang="en-US" sz="2000" spc="-1" strike="noStrike">
                <a:solidFill>
                  <a:srgbClr val="000000"/>
                </a:solidFill>
                <a:latin typeface="Open Sans"/>
                <a:ea typeface="DejaVu Sans"/>
              </a:rPr>
              <a:t>&gt;</a:t>
            </a:r>
            <a:br>
              <a:rPr sz="2000"/>
            </a:br>
            <a:r>
              <a:rPr b="0" lang="en-US" sz="2000" spc="-1" strike="noStrike">
                <a:solidFill>
                  <a:srgbClr val="000000"/>
                </a:solidFill>
                <a:latin typeface="Open Sans"/>
                <a:ea typeface="Open Sans"/>
              </a:rPr>
              <a:t>	</a:t>
            </a:r>
            <a:r>
              <a:rPr b="0" lang="en-US" sz="2000" spc="-1" strike="noStrike">
                <a:solidFill>
                  <a:srgbClr val="000000"/>
                </a:solidFill>
                <a:latin typeface="Open Sans"/>
                <a:ea typeface="DejaVu Sans"/>
              </a:rPr>
              <a:t>&lt;</a:t>
            </a:r>
            <a:r>
              <a:rPr b="0" lang="en-US" sz="2000" spc="-1" strike="noStrike" u="sng">
                <a:solidFill>
                  <a:srgbClr val="000000"/>
                </a:solidFill>
                <a:uFillTx/>
                <a:latin typeface="Open Sans"/>
                <a:ea typeface="DejaVu Sans"/>
                <a:hlinkClick r:id="rId4"/>
              </a:rPr>
              <a:t>p.babu@fz-juelich.de</a:t>
            </a:r>
            <a:r>
              <a:rPr b="0" lang="en-US" sz="2000" spc="-1" strike="noStrike">
                <a:solidFill>
                  <a:srgbClr val="000000"/>
                </a:solidFill>
                <a:latin typeface="Open Sans"/>
                <a:ea typeface="DejaVu Sans"/>
              </a:rPr>
              <a:t>&gt;</a:t>
            </a:r>
            <a:endParaRPr b="0" lang="en-US" sz="2000" spc="-1" strike="noStrike">
              <a:solidFill>
                <a:srgbClr val="000000"/>
              </a:solidFill>
              <a:latin typeface="Arial"/>
            </a:endParaRPr>
          </a:p>
          <a:p>
            <a:pPr marL="181080">
              <a:lnSpc>
                <a:spcPct val="114000"/>
              </a:lnSpc>
              <a:spcBef>
                <a:spcPts val="601"/>
              </a:spcBef>
              <a:spcAft>
                <a:spcPts val="601"/>
              </a:spcAft>
            </a:pPr>
            <a:endParaRPr b="0" lang="en-US" sz="2000" spc="-1" strike="noStrike">
              <a:solidFill>
                <a:srgbClr val="000000"/>
              </a:solidFill>
              <a:latin typeface="Arial"/>
            </a:endParaRPr>
          </a:p>
        </p:txBody>
      </p:sp>
    </p:spTree>
  </p:cSld>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6d268e"/>
      </a:dk2>
      <a:lt2>
        <a:srgbClr val="ebebeb"/>
      </a:lt2>
      <a:accent1>
        <a:srgbClr val="023d6b"/>
      </a:accent1>
      <a:accent2>
        <a:srgbClr val="adbde3"/>
      </a:accent2>
      <a:accent3>
        <a:srgbClr val="30a93b"/>
      </a:accent3>
      <a:accent4>
        <a:srgbClr val="ffe900"/>
      </a:accent4>
      <a:accent5>
        <a:srgbClr val="ff8c0c"/>
      </a:accent5>
      <a:accent6>
        <a:srgbClr val="df0f44"/>
      </a:accent6>
      <a:hlink>
        <a:srgbClr val="000000"/>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6d268e"/>
      </a:dk2>
      <a:lt2>
        <a:srgbClr val="ebebeb"/>
      </a:lt2>
      <a:accent1>
        <a:srgbClr val="023d6b"/>
      </a:accent1>
      <a:accent2>
        <a:srgbClr val="adbde3"/>
      </a:accent2>
      <a:accent3>
        <a:srgbClr val="30a93b"/>
      </a:accent3>
      <a:accent4>
        <a:srgbClr val="ffe900"/>
      </a:accent4>
      <a:accent5>
        <a:srgbClr val="ff8c0c"/>
      </a:accent5>
      <a:accent6>
        <a:srgbClr val="df0f44"/>
      </a:accent6>
      <a:hlink>
        <a:srgbClr val="000000"/>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rgbClr val="000000"/>
      </a:dk1>
      <a:lt1>
        <a:srgbClr val="ffffff"/>
      </a:lt1>
      <a:dk2>
        <a:srgbClr val="6d268e"/>
      </a:dk2>
      <a:lt2>
        <a:srgbClr val="ebebeb"/>
      </a:lt2>
      <a:accent1>
        <a:srgbClr val="023d6b"/>
      </a:accent1>
      <a:accent2>
        <a:srgbClr val="adbde3"/>
      </a:accent2>
      <a:accent3>
        <a:srgbClr val="30a93b"/>
      </a:accent3>
      <a:accent4>
        <a:srgbClr val="ffe900"/>
      </a:accent4>
      <a:accent5>
        <a:srgbClr val="ff8c0c"/>
      </a:accent5>
      <a:accent6>
        <a:srgbClr val="df0f44"/>
      </a:accent6>
      <a:hlink>
        <a:srgbClr val="000000"/>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6d268e"/>
      </a:dk2>
      <a:lt2>
        <a:srgbClr val="ebebeb"/>
      </a:lt2>
      <a:accent1>
        <a:srgbClr val="023d6b"/>
      </a:accent1>
      <a:accent2>
        <a:srgbClr val="adbde3"/>
      </a:accent2>
      <a:accent3>
        <a:srgbClr val="30a93b"/>
      </a:accent3>
      <a:accent4>
        <a:srgbClr val="ffe900"/>
      </a:accent4>
      <a:accent5>
        <a:srgbClr val="ff8c0c"/>
      </a:accent5>
      <a:accent6>
        <a:srgbClr val="df0f44"/>
      </a:accent6>
      <a:hlink>
        <a:srgbClr val="000000"/>
      </a:hlink>
      <a:folHlink>
        <a:srgbClr val="00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34674</TotalTime>
  <Application>LibreOffice/7.5.9.2$Linux_X86_64 LibreOffice_project/50$Build-2</Application>
  <AppVersion>15.0000</AppVersion>
  <Words>257</Words>
  <Paragraphs>66</Paragraphs>
  <Company>Jülich Forschungszentrum</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2017-11-11T19:42:13Z</dcterms:created>
  <dc:creator>Jülich Forschungszentrum</dc:creator>
  <dc:description/>
  <dc:language>en</dc:language>
  <cp:lastModifiedBy>Charl</cp:lastModifiedBy>
  <dcterms:modified xsi:type="dcterms:W3CDTF">2026-06-16T11:01:11Z</dcterms:modified>
  <cp:revision>638</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7</vt:i4>
  </property>
  <property fmtid="{D5CDD505-2E9C-101B-9397-08002B2CF9AE}" pid="7" name="PresentationFormat">
    <vt:lpwstr>Custom</vt:lpwstr>
  </property>
  <property fmtid="{D5CDD505-2E9C-101B-9397-08002B2CF9AE}" pid="8" name="ScaleCrop">
    <vt:bool>0</vt:bool>
  </property>
  <property fmtid="{D5CDD505-2E9C-101B-9397-08002B2CF9AE}" pid="9" name="ShareDoc">
    <vt:bool>0</vt:bool>
  </property>
  <property fmtid="{D5CDD505-2E9C-101B-9397-08002B2CF9AE}" pid="10" name="Slides">
    <vt:i4>7</vt:i4>
  </property>
</Properties>
</file>